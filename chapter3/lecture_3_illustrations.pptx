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63" r:id="rId4"/>
    <p:sldId id="257" r:id="rId5"/>
    <p:sldId id="258" r:id="rId6"/>
    <p:sldId id="259" r:id="rId7"/>
    <p:sldId id="265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588"/>
  </p:normalViewPr>
  <p:slideViewPr>
    <p:cSldViewPr snapToGrid="0">
      <p:cViewPr varScale="1">
        <p:scale>
          <a:sx n="98" d="100"/>
          <a:sy n="98" d="100"/>
        </p:scale>
        <p:origin x="21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B956-9EA2-310D-1A51-F765AE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DF575-3F49-BB1D-E575-1DE506CBE1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8C489-2BFE-0C5D-8C2C-87BA5EA2D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BEE31-B50B-EE92-95C0-D431611D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187C9-B547-A672-981E-F78716165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68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8970-9F19-D8C8-6610-D789ADA6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4E75B-296C-E03E-5611-034FAC03C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B6E7-54A6-7E29-9FF5-743E59179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893A4-F285-B70D-F11D-117B0088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770A5-B182-C7F5-84C8-69FD20875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4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C48C2-8DDD-A8B6-A905-F7F895C2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4943B-6CDF-D899-C90E-E83134B00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4FDAD-D9EA-F0A9-E6D5-4D5B0FAD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9AEB5-A777-E0C5-233E-07D998CDE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F6F5D-3DF4-8AFE-8233-DED09812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8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2650-7BF4-609C-F227-3D9780EDC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1F9D9-8B1E-90F8-A5D1-43953DD6D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6F537-5D0E-265E-4E43-4B3FD045B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CA48C-BE26-7827-1CDA-6E586C0D8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9D8F6-C9D3-0FF8-0465-DF14B32F0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B3B4A-9062-4126-2840-E9076D09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57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4478-51AB-3057-C9A3-2E0693F35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00E90-53F5-19FE-AD4B-2E41F5E41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0675A7-353E-70E2-0BD1-7E2FCAF0A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D440C-4D88-4A32-B075-4AB28CFCB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3E815D-24BD-8E0F-9128-AA1BD9CF8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1E77C5-9824-302C-C211-426A2E14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9DF159-D249-0870-503D-F0421C8D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97A32-4B1C-923D-9633-3CBB244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8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3FD14-C411-EA53-DF01-634D8DBE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048DC1-AA09-CF27-262A-18FE1841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17D16D-1712-D0BE-EE8F-E0F67E43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559CC-D74C-592D-D118-32A2B0D2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10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DD14BF-804D-C455-C067-52FA3ABB6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1E2D4-B459-8083-9B72-14D1393ED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F490F-2E79-02FF-2438-A9A3F052A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273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8981-C761-5DA4-D5A7-53BD985F1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96BA-29C5-563E-9AFF-5D79C8775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5DF84-B78A-D419-2C82-60A04BD33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E8E3B-1713-7AE4-BF67-79AAE964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58E5-3302-48A5-A272-06A05C91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AA947-C8CB-0DD9-4171-0F4E5FD61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69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AB6E-55D9-5E79-A6CD-78F145789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B2DF6F-3AAB-42F3-2165-A0E6E39C07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B80AF-938F-AAF4-74DF-699B17321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323FA-B1DA-9E98-C12D-E937C28C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80927-9720-3E28-7F87-4DCEC7829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4E17E-44C8-5147-689B-B44390C9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3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B955-F6C7-253A-7F1C-9ACD61C90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E3465-F273-C7E4-7BB1-D7ABDCB95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38E01-BA7B-273A-6476-4800D74A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49E3D-9491-D474-BEC8-2A959590E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19E3-7EB6-C0A6-2DF9-8B33FB67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498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6120AC-2DCA-22A6-7C9A-7D732291F5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B8A05-39CE-BC03-74E3-418220A6B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D48B5-09AE-79F4-9B96-95411DBF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4BDF7-C84D-F014-8DDE-FE7E9274F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8704B-DC72-AD00-E068-009A6A474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44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ED32A3-428D-40FB-33C1-3ADA940E9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5549F-FEFA-C683-D14B-24224DE54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531B8-EC0C-8574-2868-DE94ED846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53D75-2BBE-924F-AF98-5D44231F7F45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E0D8-DEE2-5828-0CDF-9E9B1A7D9A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91DCA-9E31-B145-0F1A-C6BEB65BD8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daw1.github.io/dark_matter_course/dark_matter_detec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7A805-9045-35E2-E404-BC9B80586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8076" y="-59775"/>
            <a:ext cx="9144000" cy="1805459"/>
          </a:xfrm>
        </p:spPr>
        <p:txBody>
          <a:bodyPr/>
          <a:lstStyle/>
          <a:p>
            <a:r>
              <a:rPr lang="en-US" dirty="0"/>
              <a:t>Dark Matter – Illustrations for Lecture 3.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9EF0E-58E3-CC59-3F72-5BF437F3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665" y="1640538"/>
            <a:ext cx="1898822" cy="450978"/>
          </a:xfrm>
        </p:spPr>
        <p:txBody>
          <a:bodyPr/>
          <a:lstStyle/>
          <a:p>
            <a:r>
              <a:rPr lang="en-US" dirty="0"/>
              <a:t>Ed Daw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F6371-2DC7-E88E-87BA-6ABD8DCABC8F}"/>
              </a:ext>
            </a:extLst>
          </p:cNvPr>
          <p:cNvSpPr txBox="1"/>
          <p:nvPr/>
        </p:nvSpPr>
        <p:spPr>
          <a:xfrm>
            <a:off x="116472" y="2025908"/>
            <a:ext cx="1195905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Some notes about my teaching style and response to feedback.</a:t>
            </a:r>
          </a:p>
          <a:p>
            <a:r>
              <a:rPr lang="en-US" sz="2800" dirty="0"/>
              <a:t>1. </a:t>
            </a:r>
            <a:r>
              <a:rPr lang="en-US" sz="2800" i="1" dirty="0"/>
              <a:t>The slides are not notes </a:t>
            </a:r>
            <a:r>
              <a:rPr lang="en-US" sz="2800" dirty="0"/>
              <a:t>– they are a set of drawings and other material to supplement what I write on the board. My ‘style’ is chalk and talk, not </a:t>
            </a:r>
            <a:r>
              <a:rPr lang="en-US" sz="2800" dirty="0" err="1"/>
              <a:t>powerpoints</a:t>
            </a:r>
            <a:r>
              <a:rPr lang="en-US" sz="2800" dirty="0"/>
              <a:t>. I find that when </a:t>
            </a:r>
            <a:r>
              <a:rPr lang="en-US" sz="2800" dirty="0" err="1"/>
              <a:t>powerpoints</a:t>
            </a:r>
            <a:r>
              <a:rPr lang="en-US" sz="2800" dirty="0"/>
              <a:t> are used, the pace tends to be totally unmanageable, particularly when going through mathematics.</a:t>
            </a:r>
          </a:p>
          <a:p>
            <a:r>
              <a:rPr lang="en-US" sz="2800" dirty="0"/>
              <a:t>2. </a:t>
            </a:r>
            <a:r>
              <a:rPr lang="en-US" sz="2800" i="1" dirty="0"/>
              <a:t>The notes that you should read if you miss a lecture and for understanding </a:t>
            </a:r>
            <a:r>
              <a:rPr lang="en-US" sz="2800" dirty="0"/>
              <a:t>and revision are the ones linked two from the blackboard site: </a:t>
            </a:r>
            <a:r>
              <a:rPr lang="en-US" sz="2800" dirty="0">
                <a:hlinkClick r:id="rId2"/>
              </a:rPr>
              <a:t>https://eddaw1.github.io/dark_matter_course/dark_matter_detection.html</a:t>
            </a:r>
            <a:endParaRPr lang="en-US" sz="2800" dirty="0"/>
          </a:p>
          <a:p>
            <a:r>
              <a:rPr lang="en-US" sz="2800" dirty="0"/>
              <a:t>3. </a:t>
            </a:r>
            <a:r>
              <a:rPr lang="en-US" sz="2800" i="1" dirty="0"/>
              <a:t>I shall try and speak more slowly</a:t>
            </a:r>
            <a:r>
              <a:rPr lang="en-US" sz="2800" dirty="0"/>
              <a:t>, as some of you fed back that you are having trouble following me.</a:t>
            </a:r>
          </a:p>
        </p:txBody>
      </p:sp>
    </p:spTree>
    <p:extLst>
      <p:ext uri="{BB962C8B-B14F-4D97-AF65-F5344CB8AC3E}">
        <p14:creationId xmlns:p14="http://schemas.microsoft.com/office/powerpoint/2010/main" val="2730844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A6912C-FDC3-5248-D63D-5BCE232C4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25" y="1894023"/>
            <a:ext cx="10457350" cy="40410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7CB26D-004C-14C4-8E70-959E279E8FF8}"/>
              </a:ext>
            </a:extLst>
          </p:cNvPr>
          <p:cNvSpPr txBox="1"/>
          <p:nvPr/>
        </p:nvSpPr>
        <p:spPr>
          <a:xfrm>
            <a:off x="130629" y="0"/>
            <a:ext cx="96528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Last time, WIMP nuclear scattering modelled as</a:t>
            </a:r>
          </a:p>
          <a:p>
            <a:r>
              <a:rPr lang="en-US" sz="3600" dirty="0"/>
              <a:t>colliding hard classical spheres</a:t>
            </a:r>
          </a:p>
        </p:txBody>
      </p:sp>
    </p:spTree>
    <p:extLst>
      <p:ext uri="{BB962C8B-B14F-4D97-AF65-F5344CB8AC3E}">
        <p14:creationId xmlns:p14="http://schemas.microsoft.com/office/powerpoint/2010/main" val="98354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CD9915-6C4E-8AFB-C062-F32D1BF5DB60}"/>
              </a:ext>
            </a:extLst>
          </p:cNvPr>
          <p:cNvCxnSpPr/>
          <p:nvPr/>
        </p:nvCxnSpPr>
        <p:spPr>
          <a:xfrm flipV="1">
            <a:off x="2051222" y="1902620"/>
            <a:ext cx="0" cy="3422821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95E3367-03CE-E518-0A1F-3033B3498CC8}"/>
              </a:ext>
            </a:extLst>
          </p:cNvPr>
          <p:cNvCxnSpPr>
            <a:cxnSpLocks/>
          </p:cNvCxnSpPr>
          <p:nvPr/>
        </p:nvCxnSpPr>
        <p:spPr>
          <a:xfrm>
            <a:off x="2051222" y="5325441"/>
            <a:ext cx="731520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B2B0FE7-C5E6-990B-99EC-23DEAB31B018}"/>
              </a:ext>
            </a:extLst>
          </p:cNvPr>
          <p:cNvSpPr/>
          <p:nvPr/>
        </p:nvSpPr>
        <p:spPr>
          <a:xfrm>
            <a:off x="2051222" y="3175366"/>
            <a:ext cx="4658497" cy="2150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CD2D73-7F26-316D-756B-2636E77D4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878" y="5128591"/>
            <a:ext cx="596900" cy="393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17B1EA-6570-34B7-C08E-E50995FE5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370" y="1297608"/>
            <a:ext cx="1193800" cy="469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545D2-6CBE-633D-5645-48AAC23FE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78" y="2699116"/>
            <a:ext cx="1244600" cy="952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A217BA-325E-BF96-3B23-A0D5B4E9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0292" y="5522291"/>
            <a:ext cx="2946400" cy="1079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170EA-ABA9-107C-731F-464AC16539B0}"/>
              </a:ext>
            </a:extLst>
          </p:cNvPr>
          <p:cNvSpPr txBox="1"/>
          <p:nvPr/>
        </p:nvSpPr>
        <p:spPr>
          <a:xfrm>
            <a:off x="2989117" y="167150"/>
            <a:ext cx="764459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Review of the probability distribution</a:t>
            </a:r>
          </a:p>
          <a:p>
            <a:r>
              <a:rPr lang="en-US" sz="3600" dirty="0"/>
              <a:t>of nuclear recoil energies based on </a:t>
            </a:r>
          </a:p>
          <a:p>
            <a:r>
              <a:rPr lang="en-US" sz="3600" dirty="0"/>
              <a:t>hard sphere scattering, from lecture 2</a:t>
            </a:r>
          </a:p>
        </p:txBody>
      </p:sp>
    </p:spTree>
    <p:extLst>
      <p:ext uri="{BB962C8B-B14F-4D97-AF65-F5344CB8AC3E}">
        <p14:creationId xmlns:p14="http://schemas.microsoft.com/office/powerpoint/2010/main" val="19721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B0C7-EE18-FBD6-84C8-CB2E3746D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80" y="264764"/>
            <a:ext cx="11740375" cy="7165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Classical scattering of waves off particles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7DDA3D-DDEA-F04D-3D76-727186B742E2}"/>
              </a:ext>
            </a:extLst>
          </p:cNvPr>
          <p:cNvSpPr txBox="1"/>
          <p:nvPr/>
        </p:nvSpPr>
        <p:spPr>
          <a:xfrm>
            <a:off x="414679" y="903248"/>
            <a:ext cx="11162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Last time we did classical scattering of particles. What happens when a plane wave</a:t>
            </a:r>
          </a:p>
          <a:p>
            <a:r>
              <a:rPr lang="en-US" sz="2400" dirty="0"/>
              <a:t>wave scatters off a post sticking out of the water?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206A41-18A5-0468-47DC-290700C5ED97}"/>
              </a:ext>
            </a:extLst>
          </p:cNvPr>
          <p:cNvCxnSpPr/>
          <p:nvPr/>
        </p:nvCxnSpPr>
        <p:spPr>
          <a:xfrm>
            <a:off x="6072766" y="1839951"/>
            <a:ext cx="23234" cy="4716966"/>
          </a:xfrm>
          <a:prstGeom prst="line">
            <a:avLst/>
          </a:prstGeom>
          <a:ln w="222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E7B963-EE81-64E1-CB1C-FBB5E255AB88}"/>
              </a:ext>
            </a:extLst>
          </p:cNvPr>
          <p:cNvGrpSpPr/>
          <p:nvPr/>
        </p:nvGrpSpPr>
        <p:grpSpPr>
          <a:xfrm>
            <a:off x="414679" y="2678553"/>
            <a:ext cx="1622854" cy="3039762"/>
            <a:chOff x="827903" y="2656703"/>
            <a:chExt cx="1622854" cy="30397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6732ECB-1DF5-865F-2689-E4BA59BCEED4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0BB2F9C-6101-6CBA-438E-6F29D8DBEDED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630652-CC3D-4442-B5A2-701E22F8C63B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0BC47E-9CEF-51D3-9F98-C236FBEBC4B5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260F81-098F-2F6E-C237-AC53802FEDA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32C1B2-7483-3252-8363-D2B650EB89D2}"/>
              </a:ext>
            </a:extLst>
          </p:cNvPr>
          <p:cNvCxnSpPr/>
          <p:nvPr/>
        </p:nvCxnSpPr>
        <p:spPr>
          <a:xfrm>
            <a:off x="2037533" y="4198434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1690492-857B-073D-A5BC-B6BC1842DE5E}"/>
              </a:ext>
            </a:extLst>
          </p:cNvPr>
          <p:cNvSpPr/>
          <p:nvPr/>
        </p:nvSpPr>
        <p:spPr>
          <a:xfrm>
            <a:off x="3892527" y="3926585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BE08D-3DDD-B1FD-D388-7EFD5C268DB3}"/>
              </a:ext>
            </a:extLst>
          </p:cNvPr>
          <p:cNvSpPr txBox="1"/>
          <p:nvPr/>
        </p:nvSpPr>
        <p:spPr>
          <a:xfrm>
            <a:off x="0" y="2276417"/>
            <a:ext cx="285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plane wavefronts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D5800-E048-4569-3DDE-9D9877BDF37D}"/>
              </a:ext>
            </a:extLst>
          </p:cNvPr>
          <p:cNvSpPr txBox="1"/>
          <p:nvPr/>
        </p:nvSpPr>
        <p:spPr>
          <a:xfrm>
            <a:off x="3838622" y="3551075"/>
            <a:ext cx="627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4AFF66-C7C1-84B1-9803-EB98FBC662D2}"/>
              </a:ext>
            </a:extLst>
          </p:cNvPr>
          <p:cNvSpPr txBox="1"/>
          <p:nvPr/>
        </p:nvSpPr>
        <p:spPr>
          <a:xfrm>
            <a:off x="2363379" y="1785164"/>
            <a:ext cx="1286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BEFORE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24CEC3-BB58-8F52-C009-D2430DE74918}"/>
              </a:ext>
            </a:extLst>
          </p:cNvPr>
          <p:cNvSpPr txBox="1"/>
          <p:nvPr/>
        </p:nvSpPr>
        <p:spPr>
          <a:xfrm>
            <a:off x="8519329" y="1734245"/>
            <a:ext cx="1034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C547F13-680B-57A7-FF74-01046CAD333D}"/>
              </a:ext>
            </a:extLst>
          </p:cNvPr>
          <p:cNvSpPr/>
          <p:nvPr/>
        </p:nvSpPr>
        <p:spPr>
          <a:xfrm>
            <a:off x="7316620" y="3920407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7FAC248-7E2B-F7D5-F2A1-FBBEB8D9D8FD}"/>
              </a:ext>
            </a:extLst>
          </p:cNvPr>
          <p:cNvGrpSpPr/>
          <p:nvPr/>
        </p:nvGrpSpPr>
        <p:grpSpPr>
          <a:xfrm>
            <a:off x="8327095" y="2606501"/>
            <a:ext cx="1622854" cy="3039762"/>
            <a:chOff x="827903" y="2656703"/>
            <a:chExt cx="1622854" cy="3039762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723615-AF4F-0EAB-3A28-08899606807E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185B1E-C502-A4F2-8C79-CB085BE78428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CAF0CCA-3EB1-96F6-8016-2D3383B661B9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FA49E8-3317-EEF1-6C7A-55BF51400954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07CE2A-F40D-86CD-AE7A-449FD70B4D1B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BCA8B1-E191-98FD-273F-4BFE11550338}"/>
              </a:ext>
            </a:extLst>
          </p:cNvPr>
          <p:cNvCxnSpPr/>
          <p:nvPr/>
        </p:nvCxnSpPr>
        <p:spPr>
          <a:xfrm>
            <a:off x="9949949" y="4107072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AC2A407-00A3-3877-440F-D0C5EBB8FEF6}"/>
              </a:ext>
            </a:extLst>
          </p:cNvPr>
          <p:cNvGrpSpPr/>
          <p:nvPr/>
        </p:nvGrpSpPr>
        <p:grpSpPr>
          <a:xfrm>
            <a:off x="6267061" y="2612679"/>
            <a:ext cx="1622854" cy="3039762"/>
            <a:chOff x="827903" y="2656703"/>
            <a:chExt cx="1622854" cy="303976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BB0477-9092-A568-DBEE-81C0B10E37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14DB78-2D2A-F80E-BE0A-ED500E83F246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80957AF-A60A-7949-E356-290096781B71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AC5C80B-E285-1261-7031-E8AD335DF752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5C5BB84-C645-38EF-3F2E-534BE256F85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D9920A7-1ABA-14BA-68F2-DE9650E73984}"/>
              </a:ext>
            </a:extLst>
          </p:cNvPr>
          <p:cNvSpPr txBox="1"/>
          <p:nvPr/>
        </p:nvSpPr>
        <p:spPr>
          <a:xfrm>
            <a:off x="6133316" y="2195910"/>
            <a:ext cx="4327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 wavefronts if unaffected by the post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157A0FC-0771-A4C6-79CA-C4A95EB94D13}"/>
              </a:ext>
            </a:extLst>
          </p:cNvPr>
          <p:cNvSpPr/>
          <p:nvPr/>
        </p:nvSpPr>
        <p:spPr>
          <a:xfrm>
            <a:off x="7072275" y="3682240"/>
            <a:ext cx="1032387" cy="103238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ABC644-BE7D-0C37-5FAD-9474732DD084}"/>
              </a:ext>
            </a:extLst>
          </p:cNvPr>
          <p:cNvSpPr/>
          <p:nvPr/>
        </p:nvSpPr>
        <p:spPr>
          <a:xfrm>
            <a:off x="6795233" y="3393302"/>
            <a:ext cx="1586471" cy="1586471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E57ABE5-2030-40D4-2B69-905E6D1EA16C}"/>
              </a:ext>
            </a:extLst>
          </p:cNvPr>
          <p:cNvSpPr/>
          <p:nvPr/>
        </p:nvSpPr>
        <p:spPr>
          <a:xfrm>
            <a:off x="6503589" y="3101657"/>
            <a:ext cx="2169759" cy="2169759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12B9D83-25B5-6623-3772-0C1052420487}"/>
              </a:ext>
            </a:extLst>
          </p:cNvPr>
          <p:cNvSpPr/>
          <p:nvPr/>
        </p:nvSpPr>
        <p:spPr>
          <a:xfrm>
            <a:off x="6190084" y="2817340"/>
            <a:ext cx="2796768" cy="270742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F58A47-6117-FBE2-5FE0-BD0D297FA738}"/>
              </a:ext>
            </a:extLst>
          </p:cNvPr>
          <p:cNvSpPr txBox="1"/>
          <p:nvPr/>
        </p:nvSpPr>
        <p:spPr>
          <a:xfrm>
            <a:off x="6133316" y="5657671"/>
            <a:ext cx="5670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Scattered waves from the post moving outwards in</a:t>
            </a:r>
          </a:p>
          <a:p>
            <a:r>
              <a:rPr lang="en-US" dirty="0"/>
              <a:t>circles (in 2 dimensions) or spheres (3 dimensions). The</a:t>
            </a:r>
          </a:p>
          <a:p>
            <a:r>
              <a:rPr lang="en-US" dirty="0"/>
              <a:t>plane and circular waves add causing interference</a:t>
            </a:r>
          </a:p>
          <a:p>
            <a:r>
              <a:rPr lang="en-US" dirty="0"/>
              <a:t>patterns on the water.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C75A016-8E47-C469-75AC-04647CF6476D}"/>
              </a:ext>
            </a:extLst>
          </p:cNvPr>
          <p:cNvCxnSpPr>
            <a:cxnSpLocks/>
          </p:cNvCxnSpPr>
          <p:nvPr/>
        </p:nvCxnSpPr>
        <p:spPr>
          <a:xfrm flipV="1">
            <a:off x="8493999" y="2775668"/>
            <a:ext cx="365179" cy="373659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72C02C8-520E-ACC5-CE2E-9DCAEF9BC506}"/>
              </a:ext>
            </a:extLst>
          </p:cNvPr>
          <p:cNvCxnSpPr>
            <a:cxnSpLocks/>
          </p:cNvCxnSpPr>
          <p:nvPr/>
        </p:nvCxnSpPr>
        <p:spPr>
          <a:xfrm>
            <a:off x="8454116" y="5243093"/>
            <a:ext cx="430392" cy="40317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8E19EC3-1BEE-EE40-EC2D-CBD0EECE08C6}"/>
              </a:ext>
            </a:extLst>
          </p:cNvPr>
          <p:cNvCxnSpPr>
            <a:cxnSpLocks/>
          </p:cNvCxnSpPr>
          <p:nvPr/>
        </p:nvCxnSpPr>
        <p:spPr>
          <a:xfrm flipV="1">
            <a:off x="8916417" y="3565372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8FE753B-A366-90A2-36A1-73AA1F33AB82}"/>
              </a:ext>
            </a:extLst>
          </p:cNvPr>
          <p:cNvCxnSpPr>
            <a:cxnSpLocks/>
          </p:cNvCxnSpPr>
          <p:nvPr/>
        </p:nvCxnSpPr>
        <p:spPr>
          <a:xfrm>
            <a:off x="8916418" y="4529961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907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EBD68-0EB7-4EF8-A565-9110211E1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81" y="365125"/>
            <a:ext cx="11875324" cy="672843"/>
          </a:xfrm>
        </p:spPr>
        <p:txBody>
          <a:bodyPr>
            <a:noAutofit/>
          </a:bodyPr>
          <a:lstStyle/>
          <a:p>
            <a:r>
              <a:rPr lang="en-US" sz="3600" dirty="0"/>
              <a:t>Differences and similarities of classical and quantum scattering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90D06-A8C6-0326-534E-88ABAD889F6F}"/>
              </a:ext>
            </a:extLst>
          </p:cNvPr>
          <p:cNvSpPr txBox="1"/>
          <p:nvPr/>
        </p:nvSpPr>
        <p:spPr>
          <a:xfrm>
            <a:off x="426834" y="1202499"/>
            <a:ext cx="1133893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classical wave physics, you are solving the wave equation</a:t>
            </a:r>
          </a:p>
          <a:p>
            <a:endParaRPr lang="en-US" dirty="0"/>
          </a:p>
          <a:p>
            <a:r>
              <a:rPr lang="en-US" dirty="0"/>
              <a:t>The solutions are the amplitude of the wave as a function of position and time. These amplitudes are observables.</a:t>
            </a:r>
          </a:p>
          <a:p>
            <a:endParaRPr lang="en-US" dirty="0"/>
          </a:p>
          <a:p>
            <a:r>
              <a:rPr lang="en-US" dirty="0"/>
              <a:t>In quantum mechanics you are solving the Schrodinger equation instead of the wave equation.</a:t>
            </a:r>
          </a:p>
          <a:p>
            <a:endParaRPr lang="en-US" dirty="0"/>
          </a:p>
          <a:p>
            <a:r>
              <a:rPr lang="en-US" dirty="0"/>
              <a:t>The solutions are wave functions, which are scalar functions of position. Wave functions are not observable.</a:t>
            </a:r>
          </a:p>
          <a:p>
            <a:endParaRPr lang="en-US" dirty="0"/>
          </a:p>
          <a:p>
            <a:r>
              <a:rPr lang="en-US" dirty="0"/>
              <a:t>The interpretation of the solutions is as probability densities for finding the WIMP there.</a:t>
            </a:r>
          </a:p>
          <a:p>
            <a:endParaRPr lang="en-US" dirty="0"/>
          </a:p>
          <a:p>
            <a:r>
              <a:rPr lang="en-US" dirty="0"/>
              <a:t>The Schrodinger equation is not exactly soluble for most problems (exceptions are the infinite square well,</a:t>
            </a:r>
          </a:p>
          <a:p>
            <a:r>
              <a:rPr lang="en-US" dirty="0"/>
              <a:t>the harmonic oscillator, the free particle, and the central coulomb potential – hydrogen atom)</a:t>
            </a:r>
          </a:p>
          <a:p>
            <a:endParaRPr lang="en-US" dirty="0"/>
          </a:p>
          <a:p>
            <a:r>
              <a:rPr lang="en-US" dirty="0"/>
              <a:t>Other problems are solved approximately.</a:t>
            </a:r>
          </a:p>
          <a:p>
            <a:endParaRPr lang="en-US" dirty="0"/>
          </a:p>
          <a:p>
            <a:r>
              <a:rPr lang="en-US" dirty="0"/>
              <a:t>One method of solving approximately is a technique called perturbation theory that you learned a bit about in</a:t>
            </a:r>
          </a:p>
          <a:p>
            <a:r>
              <a:rPr lang="en-US" dirty="0"/>
              <a:t>year 2 quantum mechanics.</a:t>
            </a:r>
          </a:p>
          <a:p>
            <a:endParaRPr lang="en-US" dirty="0"/>
          </a:p>
          <a:p>
            <a:r>
              <a:rPr lang="en-US" dirty="0"/>
              <a:t>Today we figure out the consequences of quantum mechanics for WIMP nuclear scattering.</a:t>
            </a:r>
          </a:p>
        </p:txBody>
      </p:sp>
    </p:spTree>
    <p:extLst>
      <p:ext uri="{BB962C8B-B14F-4D97-AF65-F5344CB8AC3E}">
        <p14:creationId xmlns:p14="http://schemas.microsoft.com/office/powerpoint/2010/main" val="256984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9054-B4AF-9236-27B8-E38BBBABA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031" y="80799"/>
            <a:ext cx="11625937" cy="763031"/>
          </a:xfrm>
        </p:spPr>
        <p:txBody>
          <a:bodyPr/>
          <a:lstStyle/>
          <a:p>
            <a:r>
              <a:rPr lang="en-US" dirty="0"/>
              <a:t>Quantum scattering in first order perturbation </a:t>
            </a:r>
            <a:r>
              <a:rPr lang="en-US" sz="3600" dirty="0"/>
              <a:t>theory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992DB1-53CA-B381-DCB7-E860D70082CB}"/>
              </a:ext>
            </a:extLst>
          </p:cNvPr>
          <p:cNvSpPr/>
          <p:nvPr/>
        </p:nvSpPr>
        <p:spPr>
          <a:xfrm>
            <a:off x="5243165" y="3823491"/>
            <a:ext cx="656112" cy="656112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F13FBD-697E-F90A-9463-AB0C1F97D927}"/>
              </a:ext>
            </a:extLst>
          </p:cNvPr>
          <p:cNvGrpSpPr/>
          <p:nvPr/>
        </p:nvGrpSpPr>
        <p:grpSpPr>
          <a:xfrm>
            <a:off x="669833" y="1925396"/>
            <a:ext cx="4686300" cy="3779331"/>
            <a:chOff x="695049" y="1321950"/>
            <a:chExt cx="4686300" cy="377933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A18FEE-7932-64C1-4D71-583A3FB146D1}"/>
                </a:ext>
              </a:extLst>
            </p:cNvPr>
            <p:cNvGrpSpPr/>
            <p:nvPr/>
          </p:nvGrpSpPr>
          <p:grpSpPr>
            <a:xfrm>
              <a:off x="2277125" y="2061519"/>
              <a:ext cx="1622854" cy="3039762"/>
              <a:chOff x="827903" y="2656703"/>
              <a:chExt cx="1622854" cy="3039762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B22E728-1796-77BC-9589-3A8235540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20A633A-433B-5E15-6E42-473199134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4B04B4C-F35F-ED97-7707-F034893DC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927823D-9E64-F89D-BBB9-E29190916E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677AAAB-54A9-5DC4-2C72-AE3BC26992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EAAC6A-C566-25C0-EF56-FFF0E027FC93}"/>
                </a:ext>
              </a:extLst>
            </p:cNvPr>
            <p:cNvCxnSpPr/>
            <p:nvPr/>
          </p:nvCxnSpPr>
          <p:spPr>
            <a:xfrm>
              <a:off x="3899979" y="3545291"/>
              <a:ext cx="55738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091CAC7-3190-ACCB-2DA2-B911F4780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5049" y="1321950"/>
              <a:ext cx="4686300" cy="5842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AC9C13-1E31-3CEC-91A1-15E05246AA08}"/>
              </a:ext>
            </a:extLst>
          </p:cNvPr>
          <p:cNvGrpSpPr/>
          <p:nvPr/>
        </p:nvGrpSpPr>
        <p:grpSpPr>
          <a:xfrm>
            <a:off x="6604403" y="1614050"/>
            <a:ext cx="4800600" cy="3725919"/>
            <a:chOff x="6606797" y="1421119"/>
            <a:chExt cx="4800600" cy="372591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D43CC6A-9CBE-8A1A-3F5E-B453A6C5A2D0}"/>
                </a:ext>
              </a:extLst>
            </p:cNvPr>
            <p:cNvGrpSpPr/>
            <p:nvPr/>
          </p:nvGrpSpPr>
          <p:grpSpPr>
            <a:xfrm rot="20222274">
              <a:off x="6951226" y="1421119"/>
              <a:ext cx="2184033" cy="3039762"/>
              <a:chOff x="827903" y="2656703"/>
              <a:chExt cx="1622854" cy="3039762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8E3CF3F1-2275-BEEB-B036-6D53247DE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999C20-70A5-E21B-C86B-A0CEF6C0FF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98B62B5-2D6D-9F56-D983-9B0B57270D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6D20FD6-2330-B37E-6F4E-FEEF92D382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82A0601-A6CA-0798-CDB2-02FAB90E7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4548C4-9891-9289-507D-D87D1DA41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7097" y="2299063"/>
              <a:ext cx="345909" cy="14689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1337AA9-E87F-3505-9433-E6D5012E6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217262">
              <a:off x="6606797" y="4537438"/>
              <a:ext cx="4800600" cy="609600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E365F-2437-9CCE-9DF0-7139032EC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77" y="3599162"/>
            <a:ext cx="495300" cy="4318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B4D3546-C61C-3BF9-F571-B74D48D26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84056">
            <a:off x="8988731" y="1934055"/>
            <a:ext cx="4572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3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4EBBF-8BB0-4F93-8C62-4D15A1BBE0EB}"/>
              </a:ext>
            </a:extLst>
          </p:cNvPr>
          <p:cNvSpPr txBox="1">
            <a:spLocks/>
          </p:cNvSpPr>
          <p:nvPr/>
        </p:nvSpPr>
        <p:spPr>
          <a:xfrm>
            <a:off x="283031" y="80799"/>
            <a:ext cx="11625937" cy="1296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Scattering off all points on the surface of the nucleus at once</a:t>
            </a:r>
            <a:endParaRPr lang="en-US" sz="36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46BEB7-207E-0041-4BBA-9EB6FFEEF438}"/>
              </a:ext>
            </a:extLst>
          </p:cNvPr>
          <p:cNvGrpSpPr/>
          <p:nvPr/>
        </p:nvGrpSpPr>
        <p:grpSpPr>
          <a:xfrm>
            <a:off x="156755" y="1377538"/>
            <a:ext cx="11465825" cy="4614158"/>
            <a:chOff x="849086" y="722614"/>
            <a:chExt cx="11465825" cy="461415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D2A940-8B6C-5221-AF4F-8B3605261921}"/>
                </a:ext>
              </a:extLst>
            </p:cNvPr>
            <p:cNvSpPr/>
            <p:nvPr/>
          </p:nvSpPr>
          <p:spPr>
            <a:xfrm>
              <a:off x="4168239" y="2439192"/>
              <a:ext cx="2897580" cy="2897580"/>
            </a:xfrm>
            <a:prstGeom prst="ellipse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CF6C2B5-BB56-B5B4-4553-2F9AFBB92637}"/>
                </a:ext>
              </a:extLst>
            </p:cNvPr>
            <p:cNvGrpSpPr/>
            <p:nvPr/>
          </p:nvGrpSpPr>
          <p:grpSpPr>
            <a:xfrm>
              <a:off x="849086" y="1521228"/>
              <a:ext cx="8582297" cy="2371503"/>
              <a:chOff x="849086" y="1521228"/>
              <a:chExt cx="8582297" cy="2371503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C544244-F839-DD7F-9DEB-61FEB39DF9A1}"/>
                  </a:ext>
                </a:extLst>
              </p:cNvPr>
              <p:cNvCxnSpPr>
                <a:endCxn id="3" idx="2"/>
              </p:cNvCxnSpPr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8E67099-C491-CB8E-8AA5-486A5A8CF1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D9294D7-9113-63B7-0683-741522A3B1E6}"/>
                </a:ext>
              </a:extLst>
            </p:cNvPr>
            <p:cNvGrpSpPr/>
            <p:nvPr/>
          </p:nvGrpSpPr>
          <p:grpSpPr>
            <a:xfrm>
              <a:off x="1092926" y="722614"/>
              <a:ext cx="8582297" cy="2371503"/>
              <a:chOff x="849086" y="1521228"/>
              <a:chExt cx="8582297" cy="237150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FC79258-4183-79CE-2460-91C79F659E4D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83EA1FD-8BA5-6301-5B72-AA4E3B7670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0C3ECA3-7EE2-FA71-6C13-A1D5FE9D3468}"/>
                </a:ext>
              </a:extLst>
            </p:cNvPr>
            <p:cNvGrpSpPr/>
            <p:nvPr/>
          </p:nvGrpSpPr>
          <p:grpSpPr>
            <a:xfrm>
              <a:off x="1092926" y="2295502"/>
              <a:ext cx="8582297" cy="2371503"/>
              <a:chOff x="849086" y="1521228"/>
              <a:chExt cx="8582297" cy="2371503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C06B2166-DDA6-2A48-8980-EEB9C935E9E6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096E50A-AAD8-B17C-D37D-8868BDCB02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D987EB3-3995-DDE9-A873-C977009BCD32}"/>
                </a:ext>
              </a:extLst>
            </p:cNvPr>
            <p:cNvGrpSpPr/>
            <p:nvPr/>
          </p:nvGrpSpPr>
          <p:grpSpPr>
            <a:xfrm>
              <a:off x="3326671" y="2545431"/>
              <a:ext cx="8582297" cy="2371503"/>
              <a:chOff x="849086" y="1521228"/>
              <a:chExt cx="8582297" cy="2371503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75A3375E-F34A-578E-5879-F4793AB510B2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4B37F4A-D704-36A3-7673-9CD5DBF273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CA5752-22C3-FB3D-B16A-D98C5A240B3A}"/>
                </a:ext>
              </a:extLst>
            </p:cNvPr>
            <p:cNvGrpSpPr/>
            <p:nvPr/>
          </p:nvGrpSpPr>
          <p:grpSpPr>
            <a:xfrm>
              <a:off x="3609703" y="2093945"/>
              <a:ext cx="8582297" cy="2371503"/>
              <a:chOff x="849086" y="1521228"/>
              <a:chExt cx="8582297" cy="2371503"/>
            </a:xfrm>
          </p:grpSpPr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803D636-57D6-1984-5D93-E9BA67748038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EAF9ECF-9051-8870-64F3-E348C66F8A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A780868-4EB4-D6A3-95F5-D9124726C2BC}"/>
                </a:ext>
              </a:extLst>
            </p:cNvPr>
            <p:cNvGrpSpPr/>
            <p:nvPr/>
          </p:nvGrpSpPr>
          <p:grpSpPr>
            <a:xfrm>
              <a:off x="3609703" y="887529"/>
              <a:ext cx="8582297" cy="2371503"/>
              <a:chOff x="849086" y="1521228"/>
              <a:chExt cx="8582297" cy="2371503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312CBF6-39D4-B699-3F88-7754DCD6AEA0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FDFEF85-F1DB-22A6-B617-FC144DF16B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630005-A0F0-F84F-D63D-C217EAC10E6D}"/>
                </a:ext>
              </a:extLst>
            </p:cNvPr>
            <p:cNvGrpSpPr/>
            <p:nvPr/>
          </p:nvGrpSpPr>
          <p:grpSpPr>
            <a:xfrm>
              <a:off x="849086" y="1253440"/>
              <a:ext cx="8582297" cy="2371503"/>
              <a:chOff x="849086" y="1521228"/>
              <a:chExt cx="8582297" cy="237150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CFB55057-1073-C854-E571-094CC43DA6F7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8E219C-C25A-C188-B3E3-503F4F33EF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BDA7F92-782F-7623-D64D-C0BF9FA9E5DE}"/>
                </a:ext>
              </a:extLst>
            </p:cNvPr>
            <p:cNvGrpSpPr/>
            <p:nvPr/>
          </p:nvGrpSpPr>
          <p:grpSpPr>
            <a:xfrm>
              <a:off x="3732614" y="1413606"/>
              <a:ext cx="8582297" cy="2371503"/>
              <a:chOff x="849086" y="1521228"/>
              <a:chExt cx="8582297" cy="2371503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93E34BF-253A-EC87-552D-655B1C6F6E8F}"/>
                  </a:ext>
                </a:extLst>
              </p:cNvPr>
              <p:cNvCxnSpPr/>
              <p:nvPr/>
            </p:nvCxnSpPr>
            <p:spPr>
              <a:xfrm flipV="1">
                <a:off x="849086" y="3887982"/>
                <a:ext cx="3319153" cy="4749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F41FEEE-B0BF-E07B-6166-E8301446319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68239" y="1521228"/>
                <a:ext cx="5263144" cy="2366754"/>
              </a:xfrm>
              <a:prstGeom prst="line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2AD98B7-039A-8ABA-164D-E8AC1E502D72}"/>
              </a:ext>
            </a:extLst>
          </p:cNvPr>
          <p:cNvSpPr txBox="1"/>
          <p:nvPr/>
        </p:nvSpPr>
        <p:spPr>
          <a:xfrm>
            <a:off x="400595" y="1737360"/>
            <a:ext cx="592732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As in optics, all pathways that scatter</a:t>
            </a:r>
          </a:p>
          <a:p>
            <a:r>
              <a:rPr lang="en-US" sz="2800" dirty="0"/>
              <a:t>in the same direction interfere with</a:t>
            </a:r>
          </a:p>
          <a:p>
            <a:r>
              <a:rPr lang="en-US" sz="2800" dirty="0"/>
              <a:t>each other.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5C50BA-A0FF-11B6-EAA0-EB89BE9BE897}"/>
              </a:ext>
            </a:extLst>
          </p:cNvPr>
          <p:cNvSpPr txBox="1"/>
          <p:nvPr/>
        </p:nvSpPr>
        <p:spPr>
          <a:xfrm>
            <a:off x="6474412" y="5345638"/>
            <a:ext cx="559646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[this is a 2-dimensional illustration.</a:t>
            </a:r>
          </a:p>
          <a:p>
            <a:r>
              <a:rPr lang="en-US" sz="2800" dirty="0"/>
              <a:t>In 3 dimensions, all points on the </a:t>
            </a:r>
          </a:p>
          <a:p>
            <a:r>
              <a:rPr lang="en-US" sz="2800" dirty="0"/>
              <a:t>surface of the sphere contribute]</a:t>
            </a:r>
          </a:p>
        </p:txBody>
      </p:sp>
    </p:spTree>
    <p:extLst>
      <p:ext uri="{BB962C8B-B14F-4D97-AF65-F5344CB8AC3E}">
        <p14:creationId xmlns:p14="http://schemas.microsoft.com/office/powerpoint/2010/main" val="1201895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264E1-C035-5EA2-A666-C7B8638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Geometry of the form factor integral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96FEAD-2A43-F267-BDB3-5055C5079A02}"/>
              </a:ext>
            </a:extLst>
          </p:cNvPr>
          <p:cNvCxnSpPr/>
          <p:nvPr/>
        </p:nvCxnSpPr>
        <p:spPr>
          <a:xfrm flipV="1">
            <a:off x="5368834" y="1737360"/>
            <a:ext cx="0" cy="436299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473445-D161-E08E-602B-A662DB1BC248}"/>
              </a:ext>
            </a:extLst>
          </p:cNvPr>
          <p:cNvCxnSpPr>
            <a:cxnSpLocks/>
          </p:cNvCxnSpPr>
          <p:nvPr/>
        </p:nvCxnSpPr>
        <p:spPr>
          <a:xfrm>
            <a:off x="3341914" y="4019005"/>
            <a:ext cx="405384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C8FC95-F377-927E-6F0C-4CFED99D855E}"/>
              </a:ext>
            </a:extLst>
          </p:cNvPr>
          <p:cNvCxnSpPr>
            <a:cxnSpLocks/>
          </p:cNvCxnSpPr>
          <p:nvPr/>
        </p:nvCxnSpPr>
        <p:spPr>
          <a:xfrm flipH="1">
            <a:off x="4101737" y="4027713"/>
            <a:ext cx="1267097" cy="68797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C58968-3598-CCAB-EAAF-E63804343B08}"/>
              </a:ext>
            </a:extLst>
          </p:cNvPr>
          <p:cNvCxnSpPr>
            <a:cxnSpLocks/>
          </p:cNvCxnSpPr>
          <p:nvPr/>
        </p:nvCxnSpPr>
        <p:spPr>
          <a:xfrm flipH="1">
            <a:off x="5368835" y="3331027"/>
            <a:ext cx="1267097" cy="68797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CE6809-04E6-1B8F-9342-EFFB7BF18E56}"/>
              </a:ext>
            </a:extLst>
          </p:cNvPr>
          <p:cNvSpPr txBox="1"/>
          <p:nvPr/>
        </p:nvSpPr>
        <p:spPr>
          <a:xfrm>
            <a:off x="3814479" y="46442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E655A7-F4AC-04A0-DE10-F984963C041A}"/>
              </a:ext>
            </a:extLst>
          </p:cNvPr>
          <p:cNvSpPr txBox="1"/>
          <p:nvPr/>
        </p:nvSpPr>
        <p:spPr>
          <a:xfrm>
            <a:off x="7486803" y="383433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3C4D7E-B9B8-D82C-8D60-55E421B1BDA8}"/>
              </a:ext>
            </a:extLst>
          </p:cNvPr>
          <p:cNvSpPr txBox="1"/>
          <p:nvPr/>
        </p:nvSpPr>
        <p:spPr>
          <a:xfrm>
            <a:off x="5224403" y="1363673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735BA7-55CC-5143-E5B6-78CC23BD6DDF}"/>
              </a:ext>
            </a:extLst>
          </p:cNvPr>
          <p:cNvGrpSpPr/>
          <p:nvPr/>
        </p:nvGrpSpPr>
        <p:grpSpPr>
          <a:xfrm>
            <a:off x="5367231" y="2177143"/>
            <a:ext cx="0" cy="1841862"/>
            <a:chOff x="5367231" y="2177143"/>
            <a:chExt cx="0" cy="184186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37FD905-B03E-443E-B1B1-DFDB91985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A044DD0-8B30-108B-B472-E86C79751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1B58CE4-939A-C6B7-8F3E-94757CC9D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744" y="2890127"/>
            <a:ext cx="279400" cy="4318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18B602-6F64-9822-076F-62A205C310BB}"/>
              </a:ext>
            </a:extLst>
          </p:cNvPr>
          <p:cNvGrpSpPr/>
          <p:nvPr/>
        </p:nvGrpSpPr>
        <p:grpSpPr>
          <a:xfrm rot="2605868">
            <a:off x="5785827" y="3007497"/>
            <a:ext cx="211556" cy="1238129"/>
            <a:chOff x="5367231" y="2177143"/>
            <a:chExt cx="0" cy="1841862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5FCC2E-DC0A-D36C-DEB9-7B73A33AA3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30A5501-8EF6-454A-4A5E-0008B9C7F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1990376-9FC2-8274-5B6C-4AB3A1B12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002" y="3430936"/>
            <a:ext cx="279400" cy="342900"/>
          </a:xfrm>
          <a:prstGeom prst="rect">
            <a:avLst/>
          </a:pr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6320707F-AEE8-82FB-90AB-06E524A9F0EB}"/>
              </a:ext>
            </a:extLst>
          </p:cNvPr>
          <p:cNvSpPr/>
          <p:nvPr/>
        </p:nvSpPr>
        <p:spPr>
          <a:xfrm rot="608860">
            <a:off x="5424507" y="2976738"/>
            <a:ext cx="627017" cy="197912"/>
          </a:xfrm>
          <a:custGeom>
            <a:avLst/>
            <a:gdLst>
              <a:gd name="connsiteX0" fmla="*/ 0 w 627017"/>
              <a:gd name="connsiteY0" fmla="*/ 1969 h 197912"/>
              <a:gd name="connsiteX1" fmla="*/ 326572 w 627017"/>
              <a:gd name="connsiteY1" fmla="*/ 28095 h 197912"/>
              <a:gd name="connsiteX2" fmla="*/ 627017 w 627017"/>
              <a:gd name="connsiteY2" fmla="*/ 197912 h 19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7017" h="197912">
                <a:moveTo>
                  <a:pt x="0" y="1969"/>
                </a:moveTo>
                <a:cubicBezTo>
                  <a:pt x="111034" y="-1297"/>
                  <a:pt x="222069" y="-4562"/>
                  <a:pt x="326572" y="28095"/>
                </a:cubicBezTo>
                <a:cubicBezTo>
                  <a:pt x="431075" y="60752"/>
                  <a:pt x="529046" y="129332"/>
                  <a:pt x="627017" y="19791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29D7C91-B98A-05A4-85FA-E8D6068F0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698" y="3133336"/>
            <a:ext cx="203200" cy="3429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D9281EF-8F54-DD2C-645A-7C30AF06A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247" y="4890436"/>
            <a:ext cx="27686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6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F4504-27CA-D823-9247-4E82CB97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686" y="176086"/>
            <a:ext cx="11388634" cy="540039"/>
          </a:xfrm>
        </p:spPr>
        <p:txBody>
          <a:bodyPr>
            <a:normAutofit fontScale="90000"/>
          </a:bodyPr>
          <a:lstStyle/>
          <a:p>
            <a:r>
              <a:rPr lang="en-US" dirty="0"/>
              <a:t>Form factor result, compared with hard sphere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CB543-7C75-A7C6-4ED6-21B6F99C082B}"/>
              </a:ext>
            </a:extLst>
          </p:cNvPr>
          <p:cNvSpPr txBox="1"/>
          <p:nvPr/>
        </p:nvSpPr>
        <p:spPr>
          <a:xfrm>
            <a:off x="209268" y="2796395"/>
            <a:ext cx="41401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the scattering nucleus is Xenon</a:t>
            </a:r>
          </a:p>
          <a:p>
            <a:r>
              <a:rPr lang="en-US" dirty="0"/>
              <a:t>at A=131, nuclear radius 6.1fm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FA7407-4EB8-E5E1-8178-16A36035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03" y="1483244"/>
            <a:ext cx="4547650" cy="119675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4068922-A129-CFDE-4BC8-2310489BABDE}"/>
              </a:ext>
            </a:extLst>
          </p:cNvPr>
          <p:cNvGrpSpPr/>
          <p:nvPr/>
        </p:nvGrpSpPr>
        <p:grpSpPr>
          <a:xfrm>
            <a:off x="377403" y="3559127"/>
            <a:ext cx="2430316" cy="1494841"/>
            <a:chOff x="315686" y="3561198"/>
            <a:chExt cx="2430316" cy="149484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8E799FC-D16D-2C33-ADA5-2149A815D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686" y="3561198"/>
              <a:ext cx="2430316" cy="34459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2A93393-684D-9BBF-5046-92E3B462E7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686" y="4196434"/>
              <a:ext cx="1595845" cy="2675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686B95E-5130-54E7-66D4-50FA1912D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5686" y="4784928"/>
              <a:ext cx="2430316" cy="271111"/>
            </a:xfrm>
            <a:prstGeom prst="rect">
              <a:avLst/>
            </a:prstGeom>
          </p:spPr>
        </p:pic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86479AFA-C925-F27D-5A0A-8F7B4B3AD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2919" y="729516"/>
            <a:ext cx="51054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247C7A-0435-1D13-EA64-57614CE4EA75}"/>
              </a:ext>
            </a:extLst>
          </p:cNvPr>
          <p:cNvSpPr txBox="1"/>
          <p:nvPr/>
        </p:nvSpPr>
        <p:spPr>
          <a:xfrm>
            <a:off x="209268" y="734883"/>
            <a:ext cx="4752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notes we calculated the form factor</a:t>
            </a:r>
          </a:p>
          <a:p>
            <a:r>
              <a:rPr lang="en-US" dirty="0"/>
              <a:t>for WIMP-nuclear scattering in a simple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12C671-7074-5E6B-5F3B-0835C51477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6" y="5996205"/>
            <a:ext cx="2110180" cy="7731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67E2E-559A-0DCC-8AA8-294E6CF13F18}"/>
              </a:ext>
            </a:extLst>
          </p:cNvPr>
          <p:cNvSpPr txBox="1"/>
          <p:nvPr/>
        </p:nvSpPr>
        <p:spPr>
          <a:xfrm>
            <a:off x="209268" y="5215598"/>
            <a:ext cx="537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lecture 2 and the hard sphere scattering model</a:t>
            </a:r>
          </a:p>
          <a:p>
            <a:r>
              <a:rPr lang="en-US" dirty="0"/>
              <a:t>the maximum attainable nuclear recoil energy is</a:t>
            </a:r>
          </a:p>
        </p:txBody>
      </p:sp>
    </p:spTree>
    <p:extLst>
      <p:ext uri="{BB962C8B-B14F-4D97-AF65-F5344CB8AC3E}">
        <p14:creationId xmlns:p14="http://schemas.microsoft.com/office/powerpoint/2010/main" val="3105467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76BD-F574-D175-C3A7-CBE76EBB2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779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4E55-7F3E-C163-0E48-2A416344C13A}"/>
              </a:ext>
            </a:extLst>
          </p:cNvPr>
          <p:cNvSpPr txBox="1"/>
          <p:nvPr/>
        </p:nvSpPr>
        <p:spPr>
          <a:xfrm>
            <a:off x="838200" y="998909"/>
            <a:ext cx="109658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In the hard sphere scattering model, energy and momentum conservation lead to a maximum attainable recoil energy.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Assuming a single point of impact equally likely anywhere on the disk of impact points relative to the incoming WIMP, leads to a prediction of a uniform probability density of WIMP recoil energies up to the maximum kinematically permitted.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 quantum analysis contradicts this – interference predicts a form factor that is down by about a factor of 30 at the maximum recoil energy, for A=131.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Therefore,  to be sensitive, detectors need as low an energy threshold as possible, as event rates at low recoil energies are far more common than event rates at high recoil energies.</a:t>
            </a:r>
          </a:p>
        </p:txBody>
      </p:sp>
    </p:spTree>
    <p:extLst>
      <p:ext uri="{BB962C8B-B14F-4D97-AF65-F5344CB8AC3E}">
        <p14:creationId xmlns:p14="http://schemas.microsoft.com/office/powerpoint/2010/main" val="173642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676</Words>
  <Application>Microsoft Macintosh PowerPoint</Application>
  <PresentationFormat>Widescreen</PresentationFormat>
  <Paragraphs>67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Dark Matter – Illustrations for Lecture 3.</vt:lpstr>
      <vt:lpstr>PowerPoint Presentation</vt:lpstr>
      <vt:lpstr>PowerPoint Presentation</vt:lpstr>
      <vt:lpstr>Classical scattering of waves off particles</vt:lpstr>
      <vt:lpstr>Differences and similarities of classical and quantum scattering</vt:lpstr>
      <vt:lpstr>Quantum scattering in first order perturbation theory</vt:lpstr>
      <vt:lpstr>PowerPoint Presentation</vt:lpstr>
      <vt:lpstr>Geometry of the form factor integral</vt:lpstr>
      <vt:lpstr>Form factor result, compared with hard sphere model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13</cp:revision>
  <cp:lastPrinted>2025-11-25T00:10:55Z</cp:lastPrinted>
  <dcterms:created xsi:type="dcterms:W3CDTF">2025-11-24T10:12:52Z</dcterms:created>
  <dcterms:modified xsi:type="dcterms:W3CDTF">2025-11-26T10:49:33Z</dcterms:modified>
</cp:coreProperties>
</file>