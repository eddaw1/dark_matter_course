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588"/>
  </p:normalViewPr>
  <p:slideViewPr>
    <p:cSldViewPr snapToGrid="0">
      <p:cViewPr varScale="1">
        <p:scale>
          <a:sx n="98" d="100"/>
          <a:sy n="98" d="100"/>
        </p:scale>
        <p:origin x="21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B956-9EA2-310D-1A51-F765AE5A8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DF575-3F49-BB1D-E575-1DE506CBE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8C489-2BFE-0C5D-8C2C-87BA5EA2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BEE31-B50B-EE92-95C0-D431611D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187C9-B547-A672-981E-F7871616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8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8970-9F19-D8C8-6610-D789ADA6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4E75B-296C-E03E-5611-034FAC03C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B6E7-54A6-7E29-9FF5-743E5917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893A4-F285-B70D-F11D-117B0088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770A5-B182-C7F5-84C8-69FD2087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4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C48C2-8DDD-A8B6-A905-F7F895C2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4943B-6CDF-D899-C90E-E83134B00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4FDAD-D9EA-F0A9-E6D5-4D5B0FAD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9AEB5-A777-E0C5-233E-07D998CDE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F6F5D-3DF4-8AFE-8233-DED09812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8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2650-7BF4-609C-F227-3D9780ED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1F9D9-8B1E-90F8-A5D1-43953DD6D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6F537-5D0E-265E-4E43-4B3FD045B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CA48C-BE26-7827-1CDA-6E586C0D8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9D8F6-C9D3-0FF8-0465-DF14B32F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B3B4A-9062-4126-2840-E9076D09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5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4478-51AB-3057-C9A3-2E0693F35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00E90-53F5-19FE-AD4B-2E41F5E41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675A7-353E-70E2-0BD1-7E2FCAF0A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D440C-4D88-4A32-B075-4AB28CFCB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E815D-24BD-8E0F-9128-AA1BD9CF8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1E77C5-9824-302C-C211-426A2E14A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9DF159-D249-0870-503D-F0421C8D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97A32-4B1C-923D-9633-3CBB2440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84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FD14-C411-EA53-DF01-634D8DBE8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48DC1-AA09-CF27-262A-18FE1841F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7D16D-1712-D0BE-EE8F-E0F67E43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559CC-D74C-592D-D118-32A2B0D2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06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DD14BF-804D-C455-C067-52FA3ABB6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1E2D4-B459-8083-9B72-14D1393E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F490F-2E79-02FF-2438-A9A3F052A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7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8981-C761-5DA4-D5A7-53BD985F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96BA-29C5-563E-9AFF-5D79C8775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5DF84-B78A-D419-2C82-60A04BD33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E8E3B-1713-7AE4-BF67-79AAE964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58E5-3302-48A5-A272-06A05C91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AA947-C8CB-0DD9-4171-0F4E5FD6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6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AB6E-55D9-5E79-A6CD-78F145789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B2DF6F-3AAB-42F3-2165-A0E6E39C0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B80AF-938F-AAF4-74DF-699B17321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323FA-B1DA-9E98-C12D-E937C28C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80927-9720-3E28-7F87-4DCEC7829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4E17E-44C8-5147-689B-B44390C9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3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B955-F6C7-253A-7F1C-9ACD61C90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E3465-F273-C7E4-7BB1-D7ABDCB95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38E01-BA7B-273A-6476-4800D74A4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49E3D-9491-D474-BEC8-2A959590E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A19E3-7EB6-C0A6-2DF9-8B33FB67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98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6120AC-2DCA-22A6-7C9A-7D732291F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B8A05-39CE-BC03-74E3-418220A6B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D48B5-09AE-79F4-9B96-95411DBF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4BDF7-C84D-F014-8DDE-FE7E9274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8704B-DC72-AD00-E068-009A6A47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4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ED32A3-428D-40FB-33C1-3ADA940E9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5549F-FEFA-C683-D14B-24224DE54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531B8-EC0C-8574-2868-DE94ED846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53D75-2BBE-924F-AF98-5D44231F7F45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7E0D8-DEE2-5828-0CDF-9E9B1A7D9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91DCA-9E31-B145-0F1A-C6BEB65BD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EE760-F1E8-CC4E-B293-194E77F08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ddaw1.github.io/dark_matter_course/dark_matter_detection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7A805-9045-35E2-E404-BC9B80586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076" y="-59775"/>
            <a:ext cx="9144000" cy="1805459"/>
          </a:xfrm>
        </p:spPr>
        <p:txBody>
          <a:bodyPr/>
          <a:lstStyle/>
          <a:p>
            <a:r>
              <a:rPr lang="en-US" dirty="0"/>
              <a:t>Dark Matter – Illustrations for Lecture 3.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9EF0E-58E3-CC59-3F72-5BF437F35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0665" y="1640538"/>
            <a:ext cx="1898822" cy="450978"/>
          </a:xfrm>
        </p:spPr>
        <p:txBody>
          <a:bodyPr/>
          <a:lstStyle/>
          <a:p>
            <a:r>
              <a:rPr lang="en-US" dirty="0"/>
              <a:t>Ed Daw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EF6371-2DC7-E88E-87BA-6ABD8DCABC8F}"/>
              </a:ext>
            </a:extLst>
          </p:cNvPr>
          <p:cNvSpPr txBox="1"/>
          <p:nvPr/>
        </p:nvSpPr>
        <p:spPr>
          <a:xfrm>
            <a:off x="116472" y="2025908"/>
            <a:ext cx="119590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Some notes about my teaching style and response to feedback.</a:t>
            </a:r>
          </a:p>
          <a:p>
            <a:r>
              <a:rPr lang="en-US" sz="2800" dirty="0"/>
              <a:t>1. </a:t>
            </a:r>
            <a:r>
              <a:rPr lang="en-US" sz="2800" i="1" dirty="0"/>
              <a:t>The slides are not notes </a:t>
            </a:r>
            <a:r>
              <a:rPr lang="en-US" sz="2800" dirty="0"/>
              <a:t>– they are a set of drawings and other material to supplement what I write on the board. My ‘style’ is chalk and talk, not </a:t>
            </a:r>
            <a:r>
              <a:rPr lang="en-US" sz="2800" dirty="0" err="1"/>
              <a:t>powerpoints</a:t>
            </a:r>
            <a:r>
              <a:rPr lang="en-US" sz="2800" dirty="0"/>
              <a:t>. I find that when </a:t>
            </a:r>
            <a:r>
              <a:rPr lang="en-US" sz="2800" dirty="0" err="1"/>
              <a:t>powerpoints</a:t>
            </a:r>
            <a:r>
              <a:rPr lang="en-US" sz="2800" dirty="0"/>
              <a:t> are used, the pace tends to be totally unmanageable, particularly when going through mathematics.</a:t>
            </a:r>
          </a:p>
          <a:p>
            <a:r>
              <a:rPr lang="en-US" sz="2800" dirty="0"/>
              <a:t>2. </a:t>
            </a:r>
            <a:r>
              <a:rPr lang="en-US" sz="2800" i="1" dirty="0"/>
              <a:t>The notes that you should read if you miss a lecture and for understanding </a:t>
            </a:r>
            <a:r>
              <a:rPr lang="en-US" sz="2800" dirty="0"/>
              <a:t>and revision are the ones linked two from the blackboard site: </a:t>
            </a:r>
            <a:r>
              <a:rPr lang="en-US" sz="2800" dirty="0">
                <a:hlinkClick r:id="rId2"/>
              </a:rPr>
              <a:t>https://eddaw1.github.io/dark_matter_course/dark_matter_detection.html</a:t>
            </a:r>
            <a:endParaRPr lang="en-US" sz="2800" dirty="0"/>
          </a:p>
          <a:p>
            <a:r>
              <a:rPr lang="en-US" sz="2800" dirty="0"/>
              <a:t>3. </a:t>
            </a:r>
            <a:r>
              <a:rPr lang="en-US" sz="2800" i="1" dirty="0"/>
              <a:t>I shall try and speak more slowly</a:t>
            </a:r>
            <a:r>
              <a:rPr lang="en-US" sz="2800" dirty="0"/>
              <a:t>, as some of you fed back that you are having trouble following me.</a:t>
            </a:r>
          </a:p>
        </p:txBody>
      </p:sp>
    </p:spTree>
    <p:extLst>
      <p:ext uri="{BB962C8B-B14F-4D97-AF65-F5344CB8AC3E}">
        <p14:creationId xmlns:p14="http://schemas.microsoft.com/office/powerpoint/2010/main" val="273084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B0C7-EE18-FBD6-84C8-CB2E3746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80" y="264764"/>
            <a:ext cx="11740375" cy="71654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Classical scattering of waves off particles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7DDA3D-DDEA-F04D-3D76-727186B742E2}"/>
              </a:ext>
            </a:extLst>
          </p:cNvPr>
          <p:cNvSpPr txBox="1"/>
          <p:nvPr/>
        </p:nvSpPr>
        <p:spPr>
          <a:xfrm>
            <a:off x="414679" y="903248"/>
            <a:ext cx="11162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Last time we did classical scattering of particles. What happens when a plane wave</a:t>
            </a:r>
          </a:p>
          <a:p>
            <a:r>
              <a:rPr lang="en-US" sz="2400" dirty="0"/>
              <a:t>wave scatters off a post sticking out of the water?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206A41-18A5-0468-47DC-290700C5ED97}"/>
              </a:ext>
            </a:extLst>
          </p:cNvPr>
          <p:cNvCxnSpPr/>
          <p:nvPr/>
        </p:nvCxnSpPr>
        <p:spPr>
          <a:xfrm>
            <a:off x="6072766" y="1839951"/>
            <a:ext cx="23234" cy="4716966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E7B963-EE81-64E1-CB1C-FBB5E255AB88}"/>
              </a:ext>
            </a:extLst>
          </p:cNvPr>
          <p:cNvGrpSpPr/>
          <p:nvPr/>
        </p:nvGrpSpPr>
        <p:grpSpPr>
          <a:xfrm>
            <a:off x="414679" y="2678553"/>
            <a:ext cx="1622854" cy="3039762"/>
            <a:chOff x="827903" y="2656703"/>
            <a:chExt cx="1622854" cy="303976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6732ECB-1DF5-865F-2689-E4BA59BCEED4}"/>
                </a:ext>
              </a:extLst>
            </p:cNvPr>
            <p:cNvCxnSpPr>
              <a:cxnSpLocks/>
            </p:cNvCxnSpPr>
            <p:nvPr/>
          </p:nvCxnSpPr>
          <p:spPr>
            <a:xfrm>
              <a:off x="827903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0BB2F9C-6101-6CBA-438E-6F29D8DBEDED}"/>
                </a:ext>
              </a:extLst>
            </p:cNvPr>
            <p:cNvCxnSpPr>
              <a:cxnSpLocks/>
            </p:cNvCxnSpPr>
            <p:nvPr/>
          </p:nvCxnSpPr>
          <p:spPr>
            <a:xfrm>
              <a:off x="1233617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E630652-CC3D-4442-B5A2-701E22F8C63B}"/>
                </a:ext>
              </a:extLst>
            </p:cNvPr>
            <p:cNvCxnSpPr>
              <a:cxnSpLocks/>
            </p:cNvCxnSpPr>
            <p:nvPr/>
          </p:nvCxnSpPr>
          <p:spPr>
            <a:xfrm>
              <a:off x="1639331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F0BC47E-9CEF-51D3-9F98-C236FBEBC4B5}"/>
                </a:ext>
              </a:extLst>
            </p:cNvPr>
            <p:cNvCxnSpPr>
              <a:cxnSpLocks/>
            </p:cNvCxnSpPr>
            <p:nvPr/>
          </p:nvCxnSpPr>
          <p:spPr>
            <a:xfrm>
              <a:off x="2045045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0260F81-098F-2F6E-C237-AC53802FEDAE}"/>
                </a:ext>
              </a:extLst>
            </p:cNvPr>
            <p:cNvCxnSpPr>
              <a:cxnSpLocks/>
            </p:cNvCxnSpPr>
            <p:nvPr/>
          </p:nvCxnSpPr>
          <p:spPr>
            <a:xfrm>
              <a:off x="2450757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32C1B2-7483-3252-8363-D2B650EB89D2}"/>
              </a:ext>
            </a:extLst>
          </p:cNvPr>
          <p:cNvCxnSpPr/>
          <p:nvPr/>
        </p:nvCxnSpPr>
        <p:spPr>
          <a:xfrm>
            <a:off x="2037533" y="4198434"/>
            <a:ext cx="557386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1690492-857B-073D-A5BC-B6BC1842DE5E}"/>
              </a:ext>
            </a:extLst>
          </p:cNvPr>
          <p:cNvSpPr/>
          <p:nvPr/>
        </p:nvSpPr>
        <p:spPr>
          <a:xfrm>
            <a:off x="3892527" y="3926585"/>
            <a:ext cx="543697" cy="543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ABE08D-3DDD-B1FD-D388-7EFD5C268DB3}"/>
              </a:ext>
            </a:extLst>
          </p:cNvPr>
          <p:cNvSpPr txBox="1"/>
          <p:nvPr/>
        </p:nvSpPr>
        <p:spPr>
          <a:xfrm>
            <a:off x="0" y="2276417"/>
            <a:ext cx="2859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Incoming plane wavefronts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8D5800-E048-4569-3DDE-9D9877BDF37D}"/>
              </a:ext>
            </a:extLst>
          </p:cNvPr>
          <p:cNvSpPr txBox="1"/>
          <p:nvPr/>
        </p:nvSpPr>
        <p:spPr>
          <a:xfrm>
            <a:off x="3838622" y="3551075"/>
            <a:ext cx="627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4AFF66-C7C1-84B1-9803-EB98FBC662D2}"/>
              </a:ext>
            </a:extLst>
          </p:cNvPr>
          <p:cNvSpPr txBox="1"/>
          <p:nvPr/>
        </p:nvSpPr>
        <p:spPr>
          <a:xfrm>
            <a:off x="2363379" y="1785164"/>
            <a:ext cx="1286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BEFORE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24CEC3-BB58-8F52-C009-D2430DE74918}"/>
              </a:ext>
            </a:extLst>
          </p:cNvPr>
          <p:cNvSpPr txBox="1"/>
          <p:nvPr/>
        </p:nvSpPr>
        <p:spPr>
          <a:xfrm>
            <a:off x="8519329" y="1734245"/>
            <a:ext cx="1034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AFTER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547F13-680B-57A7-FF74-01046CAD333D}"/>
              </a:ext>
            </a:extLst>
          </p:cNvPr>
          <p:cNvSpPr/>
          <p:nvPr/>
        </p:nvSpPr>
        <p:spPr>
          <a:xfrm>
            <a:off x="7316620" y="3920407"/>
            <a:ext cx="543697" cy="5436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7FAC248-7E2B-F7D5-F2A1-FBBEB8D9D8FD}"/>
              </a:ext>
            </a:extLst>
          </p:cNvPr>
          <p:cNvGrpSpPr/>
          <p:nvPr/>
        </p:nvGrpSpPr>
        <p:grpSpPr>
          <a:xfrm>
            <a:off x="8327095" y="2606501"/>
            <a:ext cx="1622854" cy="3039762"/>
            <a:chOff x="827903" y="2656703"/>
            <a:chExt cx="1622854" cy="303976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5723615-AF4F-0EAB-3A28-08899606807E}"/>
                </a:ext>
              </a:extLst>
            </p:cNvPr>
            <p:cNvCxnSpPr>
              <a:cxnSpLocks/>
            </p:cNvCxnSpPr>
            <p:nvPr/>
          </p:nvCxnSpPr>
          <p:spPr>
            <a:xfrm>
              <a:off x="827903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A185B1E-C502-A4F2-8C79-CB085BE78428}"/>
                </a:ext>
              </a:extLst>
            </p:cNvPr>
            <p:cNvCxnSpPr>
              <a:cxnSpLocks/>
            </p:cNvCxnSpPr>
            <p:nvPr/>
          </p:nvCxnSpPr>
          <p:spPr>
            <a:xfrm>
              <a:off x="1233617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CAF0CCA-3EB1-96F6-8016-2D3383B661B9}"/>
                </a:ext>
              </a:extLst>
            </p:cNvPr>
            <p:cNvCxnSpPr>
              <a:cxnSpLocks/>
            </p:cNvCxnSpPr>
            <p:nvPr/>
          </p:nvCxnSpPr>
          <p:spPr>
            <a:xfrm>
              <a:off x="1639331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FA49E8-3317-EEF1-6C7A-55BF51400954}"/>
                </a:ext>
              </a:extLst>
            </p:cNvPr>
            <p:cNvCxnSpPr>
              <a:cxnSpLocks/>
            </p:cNvCxnSpPr>
            <p:nvPr/>
          </p:nvCxnSpPr>
          <p:spPr>
            <a:xfrm>
              <a:off x="2045045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307CE2A-F40D-86CD-AE7A-449FD70B4D1B}"/>
                </a:ext>
              </a:extLst>
            </p:cNvPr>
            <p:cNvCxnSpPr>
              <a:cxnSpLocks/>
            </p:cNvCxnSpPr>
            <p:nvPr/>
          </p:nvCxnSpPr>
          <p:spPr>
            <a:xfrm>
              <a:off x="2450757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BCA8B1-E191-98FD-273F-4BFE11550338}"/>
              </a:ext>
            </a:extLst>
          </p:cNvPr>
          <p:cNvCxnSpPr/>
          <p:nvPr/>
        </p:nvCxnSpPr>
        <p:spPr>
          <a:xfrm>
            <a:off x="9949949" y="4107072"/>
            <a:ext cx="557386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AC2A407-00A3-3877-440F-D0C5EBB8FEF6}"/>
              </a:ext>
            </a:extLst>
          </p:cNvPr>
          <p:cNvGrpSpPr/>
          <p:nvPr/>
        </p:nvGrpSpPr>
        <p:grpSpPr>
          <a:xfrm>
            <a:off x="6267061" y="2612679"/>
            <a:ext cx="1622854" cy="3039762"/>
            <a:chOff x="827903" y="2656703"/>
            <a:chExt cx="1622854" cy="303976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BB0477-9092-A568-DBEE-81C0B10E3748}"/>
                </a:ext>
              </a:extLst>
            </p:cNvPr>
            <p:cNvCxnSpPr>
              <a:cxnSpLocks/>
            </p:cNvCxnSpPr>
            <p:nvPr/>
          </p:nvCxnSpPr>
          <p:spPr>
            <a:xfrm>
              <a:off x="827903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714DB78-2D2A-F80E-BE0A-ED500E83F246}"/>
                </a:ext>
              </a:extLst>
            </p:cNvPr>
            <p:cNvCxnSpPr>
              <a:cxnSpLocks/>
            </p:cNvCxnSpPr>
            <p:nvPr/>
          </p:nvCxnSpPr>
          <p:spPr>
            <a:xfrm>
              <a:off x="1233617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0957AF-A60A-7949-E356-290096781B71}"/>
                </a:ext>
              </a:extLst>
            </p:cNvPr>
            <p:cNvCxnSpPr>
              <a:cxnSpLocks/>
            </p:cNvCxnSpPr>
            <p:nvPr/>
          </p:nvCxnSpPr>
          <p:spPr>
            <a:xfrm>
              <a:off x="1639331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AC5C80B-E285-1261-7031-E8AD335DF752}"/>
                </a:ext>
              </a:extLst>
            </p:cNvPr>
            <p:cNvCxnSpPr>
              <a:cxnSpLocks/>
            </p:cNvCxnSpPr>
            <p:nvPr/>
          </p:nvCxnSpPr>
          <p:spPr>
            <a:xfrm>
              <a:off x="2045045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5C5BB84-C645-38EF-3F2E-534BE256F85E}"/>
                </a:ext>
              </a:extLst>
            </p:cNvPr>
            <p:cNvCxnSpPr>
              <a:cxnSpLocks/>
            </p:cNvCxnSpPr>
            <p:nvPr/>
          </p:nvCxnSpPr>
          <p:spPr>
            <a:xfrm>
              <a:off x="2450757" y="2656703"/>
              <a:ext cx="0" cy="30397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D9920A7-1ABA-14BA-68F2-DE9650E73984}"/>
              </a:ext>
            </a:extLst>
          </p:cNvPr>
          <p:cNvSpPr txBox="1"/>
          <p:nvPr/>
        </p:nvSpPr>
        <p:spPr>
          <a:xfrm>
            <a:off x="6133316" y="2195910"/>
            <a:ext cx="4327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Plane wavefronts if unaffected by the post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157A0FC-0771-A4C6-79CA-C4A95EB94D13}"/>
              </a:ext>
            </a:extLst>
          </p:cNvPr>
          <p:cNvSpPr/>
          <p:nvPr/>
        </p:nvSpPr>
        <p:spPr>
          <a:xfrm>
            <a:off x="7072275" y="3682240"/>
            <a:ext cx="1032387" cy="103238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6ABC644-BE7D-0C37-5FAD-9474732DD084}"/>
              </a:ext>
            </a:extLst>
          </p:cNvPr>
          <p:cNvSpPr/>
          <p:nvPr/>
        </p:nvSpPr>
        <p:spPr>
          <a:xfrm>
            <a:off x="6795233" y="3393302"/>
            <a:ext cx="1586471" cy="158647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E57ABE5-2030-40D4-2B69-905E6D1EA16C}"/>
              </a:ext>
            </a:extLst>
          </p:cNvPr>
          <p:cNvSpPr/>
          <p:nvPr/>
        </p:nvSpPr>
        <p:spPr>
          <a:xfrm>
            <a:off x="6503589" y="3101657"/>
            <a:ext cx="2169759" cy="216975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12B9D83-25B5-6623-3772-0C1052420487}"/>
              </a:ext>
            </a:extLst>
          </p:cNvPr>
          <p:cNvSpPr/>
          <p:nvPr/>
        </p:nvSpPr>
        <p:spPr>
          <a:xfrm>
            <a:off x="6190084" y="2817340"/>
            <a:ext cx="2796768" cy="2707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F58A47-6117-FBE2-5FE0-BD0D297FA738}"/>
              </a:ext>
            </a:extLst>
          </p:cNvPr>
          <p:cNvSpPr txBox="1"/>
          <p:nvPr/>
        </p:nvSpPr>
        <p:spPr>
          <a:xfrm>
            <a:off x="6133316" y="5657671"/>
            <a:ext cx="56702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Scattered waves from the post moving outwards in</a:t>
            </a:r>
          </a:p>
          <a:p>
            <a:r>
              <a:rPr lang="en-US" dirty="0"/>
              <a:t>circles (in 2 dimensions) or spheres (3 dimensions). The</a:t>
            </a:r>
          </a:p>
          <a:p>
            <a:r>
              <a:rPr lang="en-US" dirty="0"/>
              <a:t>plane and circular waves add causing interference</a:t>
            </a:r>
          </a:p>
          <a:p>
            <a:r>
              <a:rPr lang="en-US" dirty="0"/>
              <a:t>patterns on the water.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C75A016-8E47-C469-75AC-04647CF6476D}"/>
              </a:ext>
            </a:extLst>
          </p:cNvPr>
          <p:cNvCxnSpPr>
            <a:cxnSpLocks/>
          </p:cNvCxnSpPr>
          <p:nvPr/>
        </p:nvCxnSpPr>
        <p:spPr>
          <a:xfrm flipV="1">
            <a:off x="8493999" y="2775668"/>
            <a:ext cx="365179" cy="373659"/>
          </a:xfrm>
          <a:prstGeom prst="straightConnector1">
            <a:avLst/>
          </a:prstGeom>
          <a:ln w="349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72C02C8-520E-ACC5-CE2E-9DCAEF9BC506}"/>
              </a:ext>
            </a:extLst>
          </p:cNvPr>
          <p:cNvCxnSpPr>
            <a:cxnSpLocks/>
          </p:cNvCxnSpPr>
          <p:nvPr/>
        </p:nvCxnSpPr>
        <p:spPr>
          <a:xfrm>
            <a:off x="8454116" y="5243093"/>
            <a:ext cx="430392" cy="403170"/>
          </a:xfrm>
          <a:prstGeom prst="straightConnector1">
            <a:avLst/>
          </a:prstGeom>
          <a:ln w="349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8E19EC3-1BEE-EE40-EC2D-CBD0EECE08C6}"/>
              </a:ext>
            </a:extLst>
          </p:cNvPr>
          <p:cNvCxnSpPr>
            <a:cxnSpLocks/>
          </p:cNvCxnSpPr>
          <p:nvPr/>
        </p:nvCxnSpPr>
        <p:spPr>
          <a:xfrm flipV="1">
            <a:off x="8916417" y="3565372"/>
            <a:ext cx="592319" cy="184666"/>
          </a:xfrm>
          <a:prstGeom prst="straightConnector1">
            <a:avLst/>
          </a:prstGeom>
          <a:ln w="349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8FE753B-A366-90A2-36A1-73AA1F33AB82}"/>
              </a:ext>
            </a:extLst>
          </p:cNvPr>
          <p:cNvCxnSpPr>
            <a:cxnSpLocks/>
          </p:cNvCxnSpPr>
          <p:nvPr/>
        </p:nvCxnSpPr>
        <p:spPr>
          <a:xfrm>
            <a:off x="8916418" y="4529961"/>
            <a:ext cx="592319" cy="184666"/>
          </a:xfrm>
          <a:prstGeom prst="straightConnector1">
            <a:avLst/>
          </a:prstGeom>
          <a:ln w="34925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907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BD68-0EB7-4EF8-A565-9110211E1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81" y="365125"/>
            <a:ext cx="11875324" cy="672843"/>
          </a:xfrm>
        </p:spPr>
        <p:txBody>
          <a:bodyPr>
            <a:noAutofit/>
          </a:bodyPr>
          <a:lstStyle/>
          <a:p>
            <a:r>
              <a:rPr lang="en-US" sz="3600" dirty="0"/>
              <a:t>Differences and similarities of classical and quantum scattering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490D06-A8C6-0326-534E-88ABAD889F6F}"/>
              </a:ext>
            </a:extLst>
          </p:cNvPr>
          <p:cNvSpPr txBox="1"/>
          <p:nvPr/>
        </p:nvSpPr>
        <p:spPr>
          <a:xfrm>
            <a:off x="426834" y="1202499"/>
            <a:ext cx="11338938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classical wave physics, you are solving the wave equation</a:t>
            </a:r>
          </a:p>
          <a:p>
            <a:endParaRPr lang="en-US" dirty="0"/>
          </a:p>
          <a:p>
            <a:r>
              <a:rPr lang="en-US" dirty="0"/>
              <a:t>The solutions are the amplitude of the wave as a function of position and time. These amplitudes are observables.</a:t>
            </a:r>
          </a:p>
          <a:p>
            <a:endParaRPr lang="en-US" dirty="0"/>
          </a:p>
          <a:p>
            <a:r>
              <a:rPr lang="en-US" dirty="0"/>
              <a:t>In quantum mechanics you are solving the Schrodinger equation instead of the wave equation.</a:t>
            </a:r>
          </a:p>
          <a:p>
            <a:endParaRPr lang="en-US" dirty="0"/>
          </a:p>
          <a:p>
            <a:r>
              <a:rPr lang="en-US" dirty="0"/>
              <a:t>The solutions are wave functions, which are scalar functions of position. Wave functions are not observable.</a:t>
            </a:r>
          </a:p>
          <a:p>
            <a:endParaRPr lang="en-US" dirty="0"/>
          </a:p>
          <a:p>
            <a:r>
              <a:rPr lang="en-US" dirty="0"/>
              <a:t>The interpretation of the solutions is as probability densities for finding the WIMP there.</a:t>
            </a:r>
          </a:p>
          <a:p>
            <a:endParaRPr lang="en-US" dirty="0"/>
          </a:p>
          <a:p>
            <a:r>
              <a:rPr lang="en-US" dirty="0"/>
              <a:t>The Schrodinger equation is not exactly soluble for most problems (exceptions are the infinite square well,</a:t>
            </a:r>
          </a:p>
          <a:p>
            <a:r>
              <a:rPr lang="en-US" dirty="0"/>
              <a:t>the harmonic oscillator, the free particle, and the central coulomb potential – hydrogen atom)</a:t>
            </a:r>
          </a:p>
          <a:p>
            <a:endParaRPr lang="en-US" dirty="0"/>
          </a:p>
          <a:p>
            <a:r>
              <a:rPr lang="en-US" dirty="0"/>
              <a:t>Other problems are solved approximately.</a:t>
            </a:r>
          </a:p>
          <a:p>
            <a:endParaRPr lang="en-US" dirty="0"/>
          </a:p>
          <a:p>
            <a:r>
              <a:rPr lang="en-US" dirty="0"/>
              <a:t>One method of solving approximately is a technique called perturbation theory that you learned a bit about in</a:t>
            </a:r>
          </a:p>
          <a:p>
            <a:r>
              <a:rPr lang="en-US" dirty="0"/>
              <a:t>year 2 quantum mechanics.</a:t>
            </a:r>
          </a:p>
          <a:p>
            <a:endParaRPr lang="en-US" dirty="0"/>
          </a:p>
          <a:p>
            <a:r>
              <a:rPr lang="en-US" dirty="0"/>
              <a:t>Today we figure out the consequences of quantum mechanics for WIMP nuclear scattering.</a:t>
            </a:r>
          </a:p>
        </p:txBody>
      </p:sp>
    </p:spTree>
    <p:extLst>
      <p:ext uri="{BB962C8B-B14F-4D97-AF65-F5344CB8AC3E}">
        <p14:creationId xmlns:p14="http://schemas.microsoft.com/office/powerpoint/2010/main" val="256984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9054-B4AF-9236-27B8-E38BBBABA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31" y="80799"/>
            <a:ext cx="11625937" cy="763031"/>
          </a:xfrm>
        </p:spPr>
        <p:txBody>
          <a:bodyPr/>
          <a:lstStyle/>
          <a:p>
            <a:r>
              <a:rPr lang="en-US" dirty="0"/>
              <a:t>Quantum scattering in first order perturbation </a:t>
            </a:r>
            <a:r>
              <a:rPr lang="en-US" sz="3600" dirty="0"/>
              <a:t>theory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992DB1-53CA-B381-DCB7-E860D70082CB}"/>
              </a:ext>
            </a:extLst>
          </p:cNvPr>
          <p:cNvSpPr/>
          <p:nvPr/>
        </p:nvSpPr>
        <p:spPr>
          <a:xfrm>
            <a:off x="5243165" y="3823491"/>
            <a:ext cx="656112" cy="656112"/>
          </a:xfrm>
          <a:prstGeom prst="ellipse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EF13FBD-697E-F90A-9463-AB0C1F97D927}"/>
              </a:ext>
            </a:extLst>
          </p:cNvPr>
          <p:cNvGrpSpPr/>
          <p:nvPr/>
        </p:nvGrpSpPr>
        <p:grpSpPr>
          <a:xfrm>
            <a:off x="669833" y="1925396"/>
            <a:ext cx="4686300" cy="3779331"/>
            <a:chOff x="695049" y="1321950"/>
            <a:chExt cx="4686300" cy="377933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A18FEE-7932-64C1-4D71-583A3FB146D1}"/>
                </a:ext>
              </a:extLst>
            </p:cNvPr>
            <p:cNvGrpSpPr/>
            <p:nvPr/>
          </p:nvGrpSpPr>
          <p:grpSpPr>
            <a:xfrm>
              <a:off x="2277125" y="2061519"/>
              <a:ext cx="1622854" cy="3039762"/>
              <a:chOff x="827903" y="2656703"/>
              <a:chExt cx="1622854" cy="3039762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B22E728-1796-77BC-9589-3A82355403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903" y="2656703"/>
                <a:ext cx="0" cy="30397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20A633A-433B-5E15-6E42-4731991345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3617" y="2656703"/>
                <a:ext cx="0" cy="30397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4B04B4C-F35F-ED97-7707-F034893DC6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9331" y="2656703"/>
                <a:ext cx="0" cy="30397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927823D-9E64-F89D-BBB9-E29190916E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5045" y="2656703"/>
                <a:ext cx="0" cy="30397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677AAAB-54A9-5DC4-2C72-AE3BC26992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0757" y="2656703"/>
                <a:ext cx="0" cy="30397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1EAAC6A-C566-25C0-EF56-FFF0E027FC93}"/>
                </a:ext>
              </a:extLst>
            </p:cNvPr>
            <p:cNvCxnSpPr/>
            <p:nvPr/>
          </p:nvCxnSpPr>
          <p:spPr>
            <a:xfrm>
              <a:off x="3899979" y="3545291"/>
              <a:ext cx="557386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091CAC7-3190-ACCB-2DA2-B911F4780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5049" y="1321950"/>
              <a:ext cx="4686300" cy="5842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AAC9C13-1E31-3CEC-91A1-15E05246AA08}"/>
              </a:ext>
            </a:extLst>
          </p:cNvPr>
          <p:cNvGrpSpPr/>
          <p:nvPr/>
        </p:nvGrpSpPr>
        <p:grpSpPr>
          <a:xfrm>
            <a:off x="6604403" y="1614050"/>
            <a:ext cx="4800600" cy="3725919"/>
            <a:chOff x="6606797" y="1421119"/>
            <a:chExt cx="4800600" cy="372591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D43CC6A-9CBE-8A1A-3F5E-B453A6C5A2D0}"/>
                </a:ext>
              </a:extLst>
            </p:cNvPr>
            <p:cNvGrpSpPr/>
            <p:nvPr/>
          </p:nvGrpSpPr>
          <p:grpSpPr>
            <a:xfrm rot="20222274">
              <a:off x="6951226" y="1421119"/>
              <a:ext cx="2184033" cy="3039762"/>
              <a:chOff x="827903" y="2656703"/>
              <a:chExt cx="1622854" cy="3039762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8E3CF3F1-2275-BEEB-B036-6D53247DE9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903" y="2656703"/>
                <a:ext cx="0" cy="30397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B9999C20-70A5-E21B-C86B-A0CEF6C0F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3617" y="2656703"/>
                <a:ext cx="0" cy="30397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98B62B5-2D6D-9F56-D983-9B0B57270D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9331" y="2656703"/>
                <a:ext cx="0" cy="30397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6D20FD6-2330-B37E-6F4E-FEEF92D382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5045" y="2656703"/>
                <a:ext cx="0" cy="30397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82A0601-A6CA-0798-CDB2-02FAB90E7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0757" y="2656703"/>
                <a:ext cx="0" cy="30397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04548C4-9891-9289-507D-D87D1DA412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07097" y="2299063"/>
              <a:ext cx="345909" cy="146897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1337AA9-E87F-3505-9433-E6D5012E6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0217262">
              <a:off x="6606797" y="4537438"/>
              <a:ext cx="4800600" cy="609600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E365F-2437-9CCE-9DF0-7139032EC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977" y="3599162"/>
            <a:ext cx="495300" cy="431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B4D3546-C61C-3BF9-F571-B74D48D261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184056">
            <a:off x="8988731" y="1934055"/>
            <a:ext cx="4572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264E1-C035-5EA2-A666-C7B86383C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US" dirty="0"/>
              <a:t>Geometry of the form factor integral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896FEAD-2A43-F267-BDB3-5055C5079A02}"/>
              </a:ext>
            </a:extLst>
          </p:cNvPr>
          <p:cNvCxnSpPr/>
          <p:nvPr/>
        </p:nvCxnSpPr>
        <p:spPr>
          <a:xfrm flipV="1">
            <a:off x="5368834" y="1737360"/>
            <a:ext cx="0" cy="436299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7473445-D161-E08E-602B-A662DB1BC248}"/>
              </a:ext>
            </a:extLst>
          </p:cNvPr>
          <p:cNvCxnSpPr>
            <a:cxnSpLocks/>
          </p:cNvCxnSpPr>
          <p:nvPr/>
        </p:nvCxnSpPr>
        <p:spPr>
          <a:xfrm>
            <a:off x="3341914" y="4019005"/>
            <a:ext cx="405384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C8FC95-F377-927E-6F0C-4CFED99D855E}"/>
              </a:ext>
            </a:extLst>
          </p:cNvPr>
          <p:cNvCxnSpPr>
            <a:cxnSpLocks/>
          </p:cNvCxnSpPr>
          <p:nvPr/>
        </p:nvCxnSpPr>
        <p:spPr>
          <a:xfrm flipH="1">
            <a:off x="4101737" y="4027713"/>
            <a:ext cx="1267097" cy="68797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C58968-3598-CCAB-EAAF-E63804343B08}"/>
              </a:ext>
            </a:extLst>
          </p:cNvPr>
          <p:cNvCxnSpPr>
            <a:cxnSpLocks/>
          </p:cNvCxnSpPr>
          <p:nvPr/>
        </p:nvCxnSpPr>
        <p:spPr>
          <a:xfrm flipH="1">
            <a:off x="5368835" y="3331027"/>
            <a:ext cx="1267097" cy="68797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CE6809-04E6-1B8F-9342-EFFB7BF18E56}"/>
              </a:ext>
            </a:extLst>
          </p:cNvPr>
          <p:cNvSpPr txBox="1"/>
          <p:nvPr/>
        </p:nvSpPr>
        <p:spPr>
          <a:xfrm>
            <a:off x="3814479" y="4644238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E655A7-F4AC-04A0-DE10-F984963C041A}"/>
              </a:ext>
            </a:extLst>
          </p:cNvPr>
          <p:cNvSpPr txBox="1"/>
          <p:nvPr/>
        </p:nvSpPr>
        <p:spPr>
          <a:xfrm>
            <a:off x="7486803" y="383433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3C4D7E-B9B8-D82C-8D60-55E421B1BDA8}"/>
              </a:ext>
            </a:extLst>
          </p:cNvPr>
          <p:cNvSpPr txBox="1"/>
          <p:nvPr/>
        </p:nvSpPr>
        <p:spPr>
          <a:xfrm>
            <a:off x="5224403" y="1363673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735BA7-55CC-5143-E5B6-78CC23BD6DDF}"/>
              </a:ext>
            </a:extLst>
          </p:cNvPr>
          <p:cNvGrpSpPr/>
          <p:nvPr/>
        </p:nvGrpSpPr>
        <p:grpSpPr>
          <a:xfrm>
            <a:off x="5367231" y="2177143"/>
            <a:ext cx="0" cy="1841862"/>
            <a:chOff x="5367231" y="2177143"/>
            <a:chExt cx="0" cy="184186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37FD905-B03E-443E-B1B1-DFDB91985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7231" y="3030583"/>
              <a:ext cx="0" cy="988422"/>
            </a:xfrm>
            <a:prstGeom prst="straightConnector1">
              <a:avLst/>
            </a:prstGeom>
            <a:ln w="603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A044DD0-8B30-108B-B472-E86C79751B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7231" y="2177143"/>
              <a:ext cx="0" cy="988422"/>
            </a:xfrm>
            <a:prstGeom prst="straightConnector1">
              <a:avLst/>
            </a:prstGeom>
            <a:ln w="60325"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1B58CE4-939A-C6B7-8F3E-94757CC9D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744" y="2890127"/>
            <a:ext cx="279400" cy="4318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A18B602-6F64-9822-076F-62A205C310BB}"/>
              </a:ext>
            </a:extLst>
          </p:cNvPr>
          <p:cNvGrpSpPr/>
          <p:nvPr/>
        </p:nvGrpSpPr>
        <p:grpSpPr>
          <a:xfrm rot="2605868">
            <a:off x="5785827" y="3007497"/>
            <a:ext cx="211556" cy="1238129"/>
            <a:chOff x="5367231" y="2177143"/>
            <a:chExt cx="0" cy="1841862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15FCC2E-DC0A-D36C-DEB9-7B73A33AA3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7231" y="3030583"/>
              <a:ext cx="0" cy="988422"/>
            </a:xfrm>
            <a:prstGeom prst="straightConnector1">
              <a:avLst/>
            </a:prstGeom>
            <a:ln w="603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30A5501-8EF6-454A-4A5E-0008B9C7F1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7231" y="2177143"/>
              <a:ext cx="0" cy="988422"/>
            </a:xfrm>
            <a:prstGeom prst="straightConnector1">
              <a:avLst/>
            </a:prstGeom>
            <a:ln w="60325"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E1990376-9FC2-8274-5B6C-4AB3A1B12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002" y="3430936"/>
            <a:ext cx="279400" cy="342900"/>
          </a:xfrm>
          <a:prstGeom prst="rect">
            <a:avLst/>
          </a:prstGeom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6320707F-AEE8-82FB-90AB-06E524A9F0EB}"/>
              </a:ext>
            </a:extLst>
          </p:cNvPr>
          <p:cNvSpPr/>
          <p:nvPr/>
        </p:nvSpPr>
        <p:spPr>
          <a:xfrm rot="608860">
            <a:off x="5424507" y="2976738"/>
            <a:ext cx="627017" cy="197912"/>
          </a:xfrm>
          <a:custGeom>
            <a:avLst/>
            <a:gdLst>
              <a:gd name="connsiteX0" fmla="*/ 0 w 627017"/>
              <a:gd name="connsiteY0" fmla="*/ 1969 h 197912"/>
              <a:gd name="connsiteX1" fmla="*/ 326572 w 627017"/>
              <a:gd name="connsiteY1" fmla="*/ 28095 h 197912"/>
              <a:gd name="connsiteX2" fmla="*/ 627017 w 627017"/>
              <a:gd name="connsiteY2" fmla="*/ 197912 h 19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7017" h="197912">
                <a:moveTo>
                  <a:pt x="0" y="1969"/>
                </a:moveTo>
                <a:cubicBezTo>
                  <a:pt x="111034" y="-1297"/>
                  <a:pt x="222069" y="-4562"/>
                  <a:pt x="326572" y="28095"/>
                </a:cubicBezTo>
                <a:cubicBezTo>
                  <a:pt x="431075" y="60752"/>
                  <a:pt x="529046" y="129332"/>
                  <a:pt x="627017" y="197912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29D7C91-B98A-05A4-85FA-E8D6068F0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698" y="3133336"/>
            <a:ext cx="203200" cy="3429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D9281EF-8F54-DD2C-645A-7C30AF06A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247" y="4890436"/>
            <a:ext cx="27686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68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415</Words>
  <Application>Microsoft Macintosh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Dark Matter – Illustrations for Lecture 3.</vt:lpstr>
      <vt:lpstr>Classical scattering of waves off particles</vt:lpstr>
      <vt:lpstr>Differences and similarities of classical and quantum scattering</vt:lpstr>
      <vt:lpstr>Quantum scattering in first order perturbation theory</vt:lpstr>
      <vt:lpstr>Geometry of the form factor 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Daw</dc:creator>
  <cp:lastModifiedBy>Edward Daw</cp:lastModifiedBy>
  <cp:revision>7</cp:revision>
  <cp:lastPrinted>2025-11-25T00:10:55Z</cp:lastPrinted>
  <dcterms:created xsi:type="dcterms:W3CDTF">2025-11-24T10:12:52Z</dcterms:created>
  <dcterms:modified xsi:type="dcterms:W3CDTF">2025-11-25T01:13:48Z</dcterms:modified>
</cp:coreProperties>
</file>