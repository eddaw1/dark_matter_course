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>
      <p:cViewPr varScale="1">
        <p:scale>
          <a:sx n="115" d="100"/>
          <a:sy n="115" d="100"/>
        </p:scale>
        <p:origin x="10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5D2B6-B4B0-853C-C50E-D8C5AC559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E9C91-6CB9-4323-B090-14285F691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F1594-9360-8E1B-57A4-57553FAB6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6931C-DF14-CD48-A17B-2BD934FC4E7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8E2C2-FF23-9227-EF29-B26BB64D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03EDA-6CEA-F1EA-1DE1-7F94A190A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BBD9-89B6-5D40-B0D5-97617A93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97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3E679-B207-F4B0-A094-705990922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B8477-1E58-E9CF-B0FD-D109F3738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E53B8-281B-C76C-AF1A-B90EC3FF0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6931C-DF14-CD48-A17B-2BD934FC4E7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2634F-9ABE-59A6-B677-14E7EFAA7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BD5D6-BAAE-F2C8-4C3E-1EC4EAD4F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BBD9-89B6-5D40-B0D5-97617A93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9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C340-E080-06A4-253A-C02B1895C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A501F-3EF1-E0CD-7B87-C35959318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74F1B-7998-7A10-E086-F91571889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6931C-DF14-CD48-A17B-2BD934FC4E7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446FD-7D85-0A18-6A09-CBD67DE2A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06ED8-DC39-BE77-5C60-7AB0466B9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BBD9-89B6-5D40-B0D5-97617A93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77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95C4-CBEB-214D-7794-3C842FA34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CAABC-BD8B-8C3C-3F61-2347B6ECC0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7C28-FC9B-C1CC-336D-7F07713BF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C09E3-B828-127C-06CF-3C3C43A3C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6931C-DF14-CD48-A17B-2BD934FC4E7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D9AD7-12A3-00D1-A2B8-9CD239907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926E2-F32D-D677-FFB3-5CFFCED6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BBD9-89B6-5D40-B0D5-97617A93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61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FAA17-405C-EB8A-C74C-8C07D3DC2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4D409-62F0-69AB-1E50-1D4834A39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345285-94E9-EEA6-AFE1-11EBF4F48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F68E4-DCF5-5693-590D-D7C6592F4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E9E9E3-CD4D-A352-3ABF-860FC91AD8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EF9E98-8085-7062-3E72-2FA0B5CD3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6931C-DF14-CD48-A17B-2BD934FC4E7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2E0F0-1FE6-FF3D-54AC-C65B97F6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0F16B0-8259-A303-3E94-A2324AC3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BBD9-89B6-5D40-B0D5-97617A93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4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1D7BB-8883-5D00-B9AF-1C8F4A0AF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093CA6-F19A-4615-5426-A88EFD94A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6931C-DF14-CD48-A17B-2BD934FC4E7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90DFD3-2615-2B24-E699-82890A32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019894-E62D-1417-5D76-58A062AF5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BBD9-89B6-5D40-B0D5-97617A93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9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A907D3-F837-DBFF-5417-38F377C38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6931C-DF14-CD48-A17B-2BD934FC4E7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80FEE7-EA30-7DAB-832E-0F5DBD4CA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498B9-FF01-837A-E0FD-C2941727F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BBD9-89B6-5D40-B0D5-97617A93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396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53279-5405-8CAB-4030-9E3A02C6B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3445B-3EDC-402B-7350-01135EA89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D7058-4A10-C985-BC77-AC6BBD90B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EC56A-3B0A-CB7D-3B93-3101C7868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6931C-DF14-CD48-A17B-2BD934FC4E7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FF1B2-1CD6-6CF9-D4C3-4235E07AE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095BE-DF0B-C75C-DBFB-70645D7B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BBD9-89B6-5D40-B0D5-97617A93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78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11046-8291-D6CD-B53A-559442199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5F9F4-A1F8-C178-9745-9F8A733BFB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A977-593E-1AD8-0244-8890F08BA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EBF20-00E2-894C-7CF5-358532D94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6931C-DF14-CD48-A17B-2BD934FC4E7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EED5B-BE81-06A8-D044-09DA60A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B7948-AE96-D493-34F7-F35EF1437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BBD9-89B6-5D40-B0D5-97617A93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32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0C00C-6BD6-7043-2304-70FC932D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A77E6-D0D0-BB59-085F-CC7032FAB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6369A-0EA1-F35F-E9D5-35ABA6F45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6931C-DF14-CD48-A17B-2BD934FC4E7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ACB9D-B52C-FCCC-0418-E648F7856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A5624-45BA-A7BF-A901-509ADBE5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BBD9-89B6-5D40-B0D5-97617A93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200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6E53EE-853B-917F-9892-43BC2585C7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EEAF4-BB3E-C2B6-C4A0-29AC3D262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0E3E8-2702-CC12-6A5A-E5D500F2E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6931C-DF14-CD48-A17B-2BD934FC4E7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557A8-92E0-D441-414A-0A19A891B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07108-3F01-3F3B-16CF-86D2973F7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BBD9-89B6-5D40-B0D5-97617A93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45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7C279B-FE24-CCB3-909E-02D8AE477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2E348-AB68-7341-D6E5-4298A0811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B2713-8884-F35F-A674-69CE951A5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C6931C-DF14-CD48-A17B-2BD934FC4E7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ED983-98CF-AE39-0B4B-996B123371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6C7FE-687D-CF39-ED61-2B084D5B2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E6BBD9-89B6-5D40-B0D5-97617A93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5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15D0A-11C3-D800-3FB8-CBFC4E389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1767" y="262248"/>
            <a:ext cx="2648465" cy="641195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B757EE-EFCD-EB5D-4CE9-E5E8ACCFD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077" y="713872"/>
            <a:ext cx="10742341" cy="2497680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WIMPs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Originate in high energy accelerator ‘frontier’ new physics.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Are associated with the weak interactions, so the WIMP mass is within a couple of orders of magnitude of 100 GeV/c</a:t>
            </a:r>
            <a:r>
              <a:rPr lang="en-US" baseline="30000" dirty="0"/>
              <a:t>2</a:t>
            </a:r>
            <a:r>
              <a:rPr lang="en-US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Are particle-like, if they are dark matter.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Have De Broglie wavelengths of order the diameter of a nucleus.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6F48EB1-8AD9-B14B-D6F5-D92021CCA15C}"/>
              </a:ext>
            </a:extLst>
          </p:cNvPr>
          <p:cNvSpPr txBox="1">
            <a:spLocks/>
          </p:cNvSpPr>
          <p:nvPr/>
        </p:nvSpPr>
        <p:spPr>
          <a:xfrm>
            <a:off x="866076" y="3319541"/>
            <a:ext cx="10742341" cy="24976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Axions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Originate as a by-product of the Peccei Quinn mechanism introduced to explain why strongly interacting hadrons are CP-symmetric in the low energy limit.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Are associated with the strong interactions, so the axion mass is far lower than the WIMP mass, with its mass constrained by astrophysical observations and cosmological arguments. See a later lecture for further </a:t>
            </a:r>
            <a:r>
              <a:rPr lang="en-US" dirty="0" err="1"/>
              <a:t>disussion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Are wave-like, if they are dark matter.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Have De Broglie wavelengths of order a hundred </a:t>
            </a:r>
            <a:r>
              <a:rPr lang="en-US" dirty="0" err="1"/>
              <a:t>metres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5341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140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Daw</dc:creator>
  <cp:lastModifiedBy>Edward Daw</cp:lastModifiedBy>
  <cp:revision>1</cp:revision>
  <dcterms:created xsi:type="dcterms:W3CDTF">2025-11-17T15:09:28Z</dcterms:created>
  <dcterms:modified xsi:type="dcterms:W3CDTF">2025-11-17T15:16:26Z</dcterms:modified>
</cp:coreProperties>
</file>