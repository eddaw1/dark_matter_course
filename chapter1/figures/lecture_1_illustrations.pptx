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60" r:id="rId4"/>
    <p:sldId id="257" r:id="rId5"/>
    <p:sldId id="258" r:id="rId6"/>
    <p:sldId id="259" r:id="rId7"/>
    <p:sldId id="540" r:id="rId8"/>
    <p:sldId id="539" r:id="rId9"/>
    <p:sldId id="542" r:id="rId10"/>
    <p:sldId id="54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EFB2-840D-15B6-13FB-240E264D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4E497-6183-187D-71B2-9CEEF7DCB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3A099-984A-094B-1243-CFDEA5BC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FF21E-2FDF-9844-8801-6B6A901D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51F42-B862-0DA1-4112-9847DBE1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62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F618-96F5-7608-2749-F69C99AD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3DFA2-8D62-0FB7-9EDA-2F5F71875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E2C07-527E-40FB-65E8-A9AB71D3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8968B-B471-3A37-5345-5383666F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81DF-947C-A67B-8956-6A7FE1BE3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60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DDB7-F5CC-D34E-9945-40084064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F10C4-CCB4-9132-1337-D09D51059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AACC7-8DF0-1EDD-D8B1-9BB65706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55ACA-E10B-D50B-7415-912C6B10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5D1F4-2AAE-1523-2D87-07A1458B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4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9A18-2DE4-07F7-726A-7E49FB99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7DAE-0622-3AC7-7E65-F5F239B96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B15AD-B737-8E80-EFD4-6928C5950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C71AE-D941-AB93-D4B2-A6956590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13663-29FF-0829-30F2-A5160210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D52EF-405E-5E7F-E13A-07AF9F5F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5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BF60-D059-7ABE-B009-AED0E571C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F1035-45A4-96A1-237E-312444BA0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8FCC1-C594-0FC7-0001-86B59C614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C5513-57C6-9E8B-87DD-4D7E63C9F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C0E02C-D028-4524-3E53-1D0D2F442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90ABD-748E-6D37-7839-EB7C0306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0F18D1-B1AD-3E77-3E3B-76CD3AF9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ADDD49-4114-F3DB-74D7-891F0041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3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E232E-3465-75BF-F7C5-D1E86F10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FBB08-69C9-6DF0-6F5C-AA63AEF9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E98C8-665D-ABCB-4D67-AA84A171A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F0A42-9AAD-291A-C715-D81DAD92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7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0E8C9-7D7E-D334-AFBA-34B580910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AAC25-B80B-7743-218E-E59D062C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DD24F-B67E-811E-BDCC-2C9B18C8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3D71E-F910-2568-282C-E75027E7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A4DB-CC88-9195-5E62-A4A03D616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A44C9-BA6D-5568-7D8C-7BFD8BF76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4C8D0-C013-2157-10A7-EE3FB2BB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D9783-D9D5-AC2C-C42F-C7D511BD1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F1C45-E7B2-8B73-C307-64A8ED55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BAEF-546E-C651-051D-0A4FC19C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7F85E-254E-82C7-63FF-F969591F9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C5181-425C-A388-6D23-68871F283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CE2D1-8985-DDE4-4F1F-506ABB4E2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6E9DD-A921-1EE6-9DA3-A7CAF253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A3F5A-78F2-7D87-9366-5D3C05CB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1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3EBB-9D0E-1A9B-0358-C3AA0F9B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E6EBA-2ECB-5E95-BE62-9B5E9E27F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92B2F-BB88-A62B-2734-ED04DC68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FC962-C01F-F4EA-D3D1-AC916840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F5AD-6B0E-69E9-5428-1EF9B0D2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1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16DE2-A5E5-A421-B524-DDF8F1E9D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F0E82-EB72-56EE-46D7-76EC6666C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23F7A-E47D-DA62-A635-700E7B7F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79F59-FE92-AFB2-9861-BDE5DB16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1A2B6-2BB4-EA03-72B1-27FD56DA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41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976436" y="2557463"/>
            <a:ext cx="8239127" cy="1743075"/>
          </a:xfrm>
          <a:prstGeom prst="rect">
            <a:avLst/>
          </a:prstGeom>
        </p:spPr>
        <p:txBody>
          <a:bodyPr lIns="38100" tIns="38100" rIns="38100" bIns="38100"/>
          <a:lstStyle>
            <a:lvl1pPr algn="l" defTabSz="1219170">
              <a:lnSpc>
                <a:spcPct val="80000"/>
              </a:lnSpc>
              <a:defRPr sz="5700" spc="-114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14942" y="5755132"/>
            <a:ext cx="157430" cy="149556"/>
          </a:xfrm>
          <a:prstGeom prst="rect">
            <a:avLst/>
          </a:prstGeom>
        </p:spPr>
        <p:txBody>
          <a:bodyPr lIns="38100" tIns="38100" rIns="38100" bIns="38100" anchor="b"/>
          <a:lstStyle>
            <a:lvl1pPr defTabSz="292100">
              <a:defRPr sz="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12188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D01B61-064A-0619-A22A-FCBAC131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AE68E-0CB1-48F0-CF0B-40CD71785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13840-6718-7D0F-C833-B366570F4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8B4D3-8E7B-5740-BB50-91FF3027E42A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ECCD-5D89-21C3-ED4D-63A791BE7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03E09-A31C-6967-F0AF-179134EC5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C6597-3D69-1C46-B301-659CA9F33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emf"/><Relationship Id="rId4" Type="http://schemas.openxmlformats.org/officeDocument/2006/relationships/image" Target="../media/image9.png"/><Relationship Id="rId9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8D24-E428-9DA8-22E8-61A51C4E5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660"/>
            <a:ext cx="9144000" cy="985217"/>
          </a:xfrm>
        </p:spPr>
        <p:txBody>
          <a:bodyPr/>
          <a:lstStyle/>
          <a:p>
            <a:r>
              <a:rPr lang="en-US" dirty="0"/>
              <a:t>Dark Matter Detectors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C8708-A454-87DA-AAE1-E76CD3592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70877"/>
            <a:ext cx="9144000" cy="903055"/>
          </a:xfrm>
        </p:spPr>
        <p:txBody>
          <a:bodyPr/>
          <a:lstStyle/>
          <a:p>
            <a:r>
              <a:rPr lang="en-US" dirty="0"/>
              <a:t>Ed Daw</a:t>
            </a:r>
          </a:p>
          <a:p>
            <a:r>
              <a:rPr lang="en-US" dirty="0"/>
              <a:t>Office hours: D28 Hicks, Wednesday 12:00, Friday 4pm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EB6DC5B-562D-D15A-D9AE-2ADAAA85E6A6}"/>
              </a:ext>
            </a:extLst>
          </p:cNvPr>
          <p:cNvSpPr txBox="1">
            <a:spLocks/>
          </p:cNvSpPr>
          <p:nvPr/>
        </p:nvSpPr>
        <p:spPr>
          <a:xfrm>
            <a:off x="1524000" y="2401420"/>
            <a:ext cx="9144000" cy="43673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plan: 8 lectures on dark matter detectors.</a:t>
            </a:r>
          </a:p>
          <a:p>
            <a:r>
              <a:rPr lang="en-US" dirty="0"/>
              <a:t>Today: Theory of WIMPs and Axions</a:t>
            </a:r>
          </a:p>
          <a:p>
            <a:r>
              <a:rPr lang="en-US" dirty="0"/>
              <a:t>Then 3.5 lectures on WIMP detectors</a:t>
            </a:r>
          </a:p>
          <a:p>
            <a:r>
              <a:rPr lang="en-US" dirty="0"/>
              <a:t>Finally 3.5 lectures on axion detectors</a:t>
            </a:r>
          </a:p>
          <a:p>
            <a:endParaRPr lang="en-US" dirty="0"/>
          </a:p>
          <a:p>
            <a:r>
              <a:rPr lang="en-US" dirty="0"/>
              <a:t>You’ve had a virtual tour of an underground dark matter lab, used for several WIMP searches. You can have a tour of my axion search experiment, which is on C floor.</a:t>
            </a:r>
          </a:p>
          <a:p>
            <a:r>
              <a:rPr lang="en-US" dirty="0"/>
              <a:t>Questions are welcome – raise your hand. Be considerate of other students by not talking loudly otherwise. There will be 1 blackboard homework, and the rest of the assessment is via the exam.</a:t>
            </a:r>
          </a:p>
        </p:txBody>
      </p:sp>
    </p:spTree>
    <p:extLst>
      <p:ext uri="{BB962C8B-B14F-4D97-AF65-F5344CB8AC3E}">
        <p14:creationId xmlns:p14="http://schemas.microsoft.com/office/powerpoint/2010/main" val="133473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different types of physics&#10;&#10;Description automatically generated">
            <a:extLst>
              <a:ext uri="{FF2B5EF4-FFF2-40B4-BE49-F238E27FC236}">
                <a16:creationId xmlns:a16="http://schemas.microsoft.com/office/drawing/2014/main" id="{9D70F595-8675-1604-E46A-4E82DB0C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52" y="1209115"/>
            <a:ext cx="5368496" cy="443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8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lex structure&#10;&#10;Description automatically generated with medium confidence">
            <a:extLst>
              <a:ext uri="{FF2B5EF4-FFF2-40B4-BE49-F238E27FC236}">
                <a16:creationId xmlns:a16="http://schemas.microsoft.com/office/drawing/2014/main" id="{E8E14C86-5444-CCA2-57F0-AA50C336D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088" y="932590"/>
            <a:ext cx="7463824" cy="518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2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field&#10;&#10;Description automatically generated">
            <a:extLst>
              <a:ext uri="{FF2B5EF4-FFF2-40B4-BE49-F238E27FC236}">
                <a16:creationId xmlns:a16="http://schemas.microsoft.com/office/drawing/2014/main" id="{433CCD30-C857-D57A-808E-4CDE46981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016" y="510695"/>
            <a:ext cx="6718476" cy="510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2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harger&#10;&#10;Description automatically generated">
            <a:extLst>
              <a:ext uri="{FF2B5EF4-FFF2-40B4-BE49-F238E27FC236}">
                <a16:creationId xmlns:a16="http://schemas.microsoft.com/office/drawing/2014/main" id="{547BB84C-43C2-5021-B0B6-7409FC18E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90" y="521728"/>
            <a:ext cx="9075009" cy="547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9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irror&#10;&#10;Description automatically generated">
            <a:extLst>
              <a:ext uri="{FF2B5EF4-FFF2-40B4-BE49-F238E27FC236}">
                <a16:creationId xmlns:a16="http://schemas.microsoft.com/office/drawing/2014/main" id="{BAA31FF1-8670-5BC2-8BFC-FFFFC7C0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52" y="272531"/>
            <a:ext cx="8944180" cy="631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2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4D7A7-3699-26A1-5DF7-0EAA8120D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9" y="-738316"/>
            <a:ext cx="11112843" cy="8334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388C81-5991-B9F9-1AF4-FCC8480748FE}"/>
              </a:ext>
            </a:extLst>
          </p:cNvPr>
          <p:cNvSpPr txBox="1"/>
          <p:nvPr/>
        </p:nvSpPr>
        <p:spPr>
          <a:xfrm>
            <a:off x="3501090" y="0"/>
            <a:ext cx="51898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Peccei Quinn Potential</a:t>
            </a:r>
          </a:p>
        </p:txBody>
      </p:sp>
    </p:spTree>
    <p:extLst>
      <p:ext uri="{BB962C8B-B14F-4D97-AF65-F5344CB8AC3E}">
        <p14:creationId xmlns:p14="http://schemas.microsoft.com/office/powerpoint/2010/main" val="132968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01D5F9-23CB-310A-74DE-6998420BEBC7}"/>
              </a:ext>
            </a:extLst>
          </p:cNvPr>
          <p:cNvSpPr/>
          <p:nvPr/>
        </p:nvSpPr>
        <p:spPr>
          <a:xfrm>
            <a:off x="518984" y="1792554"/>
            <a:ext cx="5545069" cy="22205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Axion properties"/>
          <p:cNvSpPr txBox="1">
            <a:spLocks noGrp="1"/>
          </p:cNvSpPr>
          <p:nvPr>
            <p:ph type="title"/>
          </p:nvPr>
        </p:nvSpPr>
        <p:spPr>
          <a:xfrm>
            <a:off x="2271712" y="203200"/>
            <a:ext cx="7877176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dirty="0">
                <a:solidFill>
                  <a:schemeClr val="tx1"/>
                </a:solidFill>
                <a:latin typeface="Helvetica" pitchFamily="2" charset="0"/>
              </a:rPr>
              <a:t>Axion properties</a:t>
            </a:r>
          </a:p>
        </p:txBody>
      </p:sp>
      <p:pic>
        <p:nvPicPr>
          <p:cNvPr id="398" name="axion_two_photon_loop_detailed.pdf" descr="axion_two_photon_loop_detailed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36" y="4178702"/>
            <a:ext cx="4002807" cy="2152112"/>
          </a:xfrm>
          <a:prstGeom prst="rect">
            <a:avLst/>
          </a:prstGeom>
          <a:ln w="3175">
            <a:miter lim="400000"/>
          </a:ln>
        </p:spPr>
      </p:pic>
      <p:pic>
        <p:nvPicPr>
          <p:cNvPr id="39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448" y="5207132"/>
            <a:ext cx="260351" cy="95251"/>
          </a:xfrm>
          <a:prstGeom prst="rect">
            <a:avLst/>
          </a:prstGeom>
          <a:ln w="3175">
            <a:miter lim="400000"/>
          </a:ln>
        </p:spPr>
      </p:pic>
      <p:pic>
        <p:nvPicPr>
          <p:cNvPr id="400" name="axion_two_photon_effective_gagg.pdf" descr="axion_two_photon_effective_gagg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004" y="4013110"/>
            <a:ext cx="3049230" cy="2483295"/>
          </a:xfrm>
          <a:prstGeom prst="rect">
            <a:avLst/>
          </a:prstGeom>
          <a:ln w="3175">
            <a:miter lim="400000"/>
          </a:ln>
        </p:spPr>
      </p:pic>
      <p:pic>
        <p:nvPicPr>
          <p:cNvPr id="40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3582" y="4813432"/>
            <a:ext cx="2965451" cy="882651"/>
          </a:xfrm>
          <a:prstGeom prst="rect">
            <a:avLst/>
          </a:prstGeom>
          <a:ln w="3175">
            <a:miter lim="400000"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9276B7C-E4D9-60B3-DDF2-6AB430F5E02A}"/>
              </a:ext>
            </a:extLst>
          </p:cNvPr>
          <p:cNvGrpSpPr/>
          <p:nvPr/>
        </p:nvGrpSpPr>
        <p:grpSpPr>
          <a:xfrm>
            <a:off x="518984" y="1172484"/>
            <a:ext cx="9620647" cy="377026"/>
            <a:chOff x="518984" y="1172484"/>
            <a:chExt cx="9620647" cy="377026"/>
          </a:xfrm>
        </p:grpSpPr>
        <p:sp>
          <p:nvSpPr>
            <p:cNvPr id="402" name="INTERACTIONS  [            is the energy scale at the Peccei Quinn phase transition ]"/>
            <p:cNvSpPr txBox="1"/>
            <p:nvPr/>
          </p:nvSpPr>
          <p:spPr>
            <a:xfrm>
              <a:off x="518984" y="1172484"/>
              <a:ext cx="9620647" cy="377026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19050" tIns="19050" rIns="19050" bIns="19050" numCol="1" anchor="ctr">
              <a:spAutoFit/>
            </a:bodyPr>
            <a:lstStyle>
              <a:lvl1pPr>
                <a:defRPr sz="4400">
                  <a:solidFill>
                    <a:srgbClr val="000000"/>
                  </a:solidFill>
                </a:defRPr>
              </a:lvl1pPr>
            </a:lstStyle>
            <a:p>
              <a:r>
                <a:rPr sz="2200" dirty="0"/>
                <a:t>INTERACTIONS  [            is the energy scale at the Peccei Quinn phase transition ]</a:t>
              </a:r>
            </a:p>
          </p:txBody>
        </p:sp>
        <p:pic>
          <p:nvPicPr>
            <p:cNvPr id="403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54439" y="1228959"/>
              <a:ext cx="476962" cy="29388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</p:grpSp>
      <p:pic>
        <p:nvPicPr>
          <p:cNvPr id="405" name="axion_fermion_coupling.pdf" descr="axion_fermion_coupling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912" y="1577239"/>
            <a:ext cx="2965451" cy="2512028"/>
          </a:xfrm>
          <a:prstGeom prst="rect">
            <a:avLst/>
          </a:prstGeom>
          <a:ln w="3175">
            <a:miter lim="400000"/>
          </a:ln>
        </p:spPr>
      </p:pic>
      <p:pic>
        <p:nvPicPr>
          <p:cNvPr id="406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251" y="2391927"/>
            <a:ext cx="2978151" cy="882651"/>
          </a:xfrm>
          <a:prstGeom prst="rect">
            <a:avLst/>
          </a:prstGeom>
          <a:ln w="3175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518DAA-7088-B8A6-E97D-DD299B190A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036" y="3034646"/>
            <a:ext cx="4714120" cy="788708"/>
          </a:xfrm>
          <a:prstGeom prst="rect">
            <a:avLst/>
          </a:prstGeom>
        </p:spPr>
      </p:pic>
      <p:sp>
        <p:nvSpPr>
          <p:cNvPr id="5" name="INTERACTIONS  [            is the energy scale at the Peccei Quinn phase transition ]">
            <a:extLst>
              <a:ext uri="{FF2B5EF4-FFF2-40B4-BE49-F238E27FC236}">
                <a16:creationId xmlns:a16="http://schemas.microsoft.com/office/drawing/2014/main" id="{A70F6799-7BAE-6F63-BE33-389D78DAF709}"/>
              </a:ext>
            </a:extLst>
          </p:cNvPr>
          <p:cNvSpPr txBox="1"/>
          <p:nvPr/>
        </p:nvSpPr>
        <p:spPr>
          <a:xfrm>
            <a:off x="653036" y="1792554"/>
            <a:ext cx="5411017" cy="105413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50" tIns="19050" rIns="19050" bIns="19050" numCol="1" anchor="ctr">
            <a:spAutoFit/>
          </a:bodyPr>
          <a:lstStyle>
            <a:lvl1pPr>
              <a:defRPr sz="4400">
                <a:solidFill>
                  <a:srgbClr val="000000"/>
                </a:solidFill>
              </a:defRPr>
            </a:lvl1pPr>
          </a:lstStyle>
          <a:p>
            <a:pPr algn="l"/>
            <a:r>
              <a:rPr lang="en-GB" sz="2200" dirty="0">
                <a:latin typeface="Helvetica" pitchFamily="2" charset="0"/>
              </a:rPr>
              <a:t>The axion has the same quantum numbers as the     , therefore there is a scaling rule between axion and pion properties.</a:t>
            </a:r>
            <a:endParaRPr sz="2200" dirty="0">
              <a:latin typeface="Helvetica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3EB59-3AFA-691C-A9D6-F549C0E4BB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9150" y="2146659"/>
            <a:ext cx="299650" cy="29083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A146-5A9E-974B-04F0-184F4F624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2" y="272729"/>
            <a:ext cx="10515600" cy="1325563"/>
          </a:xfrm>
        </p:spPr>
        <p:txBody>
          <a:bodyPr/>
          <a:lstStyle/>
          <a:p>
            <a:r>
              <a:rPr lang="en-US" dirty="0"/>
              <a:t>’Easy’ way to work out the De Broglie wavelength from the momentum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A690E-0163-B616-E9CE-BBB9C653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068" y="414810"/>
            <a:ext cx="2844800" cy="1041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BCB9A2-0A47-13B4-52B3-B706735B79E6}"/>
              </a:ext>
            </a:extLst>
          </p:cNvPr>
          <p:cNvSpPr txBox="1"/>
          <p:nvPr/>
        </p:nvSpPr>
        <p:spPr>
          <a:xfrm>
            <a:off x="270132" y="1958546"/>
            <a:ext cx="4319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the non relativistic limit,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8C314-636E-A2FE-9B2D-6C2E3C82D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103" y="2220156"/>
            <a:ext cx="2743200" cy="1397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44DCEB-DDA8-5F8E-B745-DE84909E4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969" y="3807138"/>
            <a:ext cx="4775200" cy="11303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2EF91CB-1826-BCF3-4DC6-243128FB9410}"/>
              </a:ext>
            </a:extLst>
          </p:cNvPr>
          <p:cNvGrpSpPr/>
          <p:nvPr/>
        </p:nvGrpSpPr>
        <p:grpSpPr>
          <a:xfrm>
            <a:off x="270132" y="5127420"/>
            <a:ext cx="11651736" cy="1815882"/>
            <a:chOff x="270132" y="5127420"/>
            <a:chExt cx="11651736" cy="181588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25F10A-3995-D418-E265-4281D207149C}"/>
                </a:ext>
              </a:extLst>
            </p:cNvPr>
            <p:cNvSpPr txBox="1"/>
            <p:nvPr/>
          </p:nvSpPr>
          <p:spPr>
            <a:xfrm>
              <a:off x="270132" y="5127420"/>
              <a:ext cx="1165173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The mc</a:t>
              </a:r>
              <a:r>
                <a:rPr lang="en-US" sz="2800" baseline="30000" dirty="0"/>
                <a:t>2</a:t>
              </a:r>
              <a:r>
                <a:rPr lang="en-US" sz="2800" dirty="0"/>
                <a:t> term is the energy of the particle at rest, or its rest mass in GeV/c</a:t>
              </a:r>
              <a:r>
                <a:rPr lang="en-US" sz="2800" baseline="30000" dirty="0"/>
                <a:t>2</a:t>
              </a:r>
              <a:r>
                <a:rPr lang="en-US" sz="2800" dirty="0"/>
                <a:t>.</a:t>
              </a:r>
            </a:p>
            <a:p>
              <a:r>
                <a:rPr lang="en-US" sz="2800" dirty="0"/>
                <a:t> I’ve used                                  , a convenient thing to remember that comes in handy a lot. The quantity (v/c) is dimensionless; just make sure the units for v and c match. The answer is in femtometers.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756C79-BE20-89AD-FE25-96A561A9A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52367" y="5670933"/>
              <a:ext cx="2174790" cy="2426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608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5D0A-11C3-D800-3FB8-CBFC4E389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1767" y="262248"/>
            <a:ext cx="2648465" cy="64119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757EE-EFCD-EB5D-4CE9-E5E8ACCFD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077" y="713872"/>
            <a:ext cx="10742341" cy="249768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WIMPs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Originate in high energy accelerator ‘frontier’ new physics.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associated with the weak interactions, so the WIMP mass is within a couple of orders of magnitude of 100 GeV/c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particle-like, if they are dark matter.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Have De Broglie wavelengths of order the diameter of a nucleus.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6F48EB1-8AD9-B14B-D6F5-D92021CCA15C}"/>
              </a:ext>
            </a:extLst>
          </p:cNvPr>
          <p:cNvSpPr txBox="1">
            <a:spLocks/>
          </p:cNvSpPr>
          <p:nvPr/>
        </p:nvSpPr>
        <p:spPr>
          <a:xfrm>
            <a:off x="866076" y="3319541"/>
            <a:ext cx="10742341" cy="2497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Axions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Originate as a by-product of the Peccei Quinn mechanism introduced to explain why strongly interacting hadrons are CP-symmetric in the low energy limit.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associated with the strong interactions, so the axion mass is far lower than the WIMP mass, with its mass constrained by astrophysical observations and cosmological arguments. See a later lecture for further </a:t>
            </a:r>
            <a:r>
              <a:rPr lang="en-US" dirty="0" err="1"/>
              <a:t>disussion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Are wave-like, if they are dark matter.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Have De Broglie wavelengths of order a hundred </a:t>
            </a:r>
            <a:r>
              <a:rPr lang="en-US" dirty="0" err="1"/>
              <a:t>metres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534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380</Words>
  <Application>Microsoft Macintosh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Helvetica</vt:lpstr>
      <vt:lpstr>Helvetica Neue Medium</vt:lpstr>
      <vt:lpstr>Office Theme</vt:lpstr>
      <vt:lpstr>Dark Matter Detectors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Axion properties</vt:lpstr>
      <vt:lpstr>’Easy’ way to work out the De Broglie wavelength from the momentum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Daw</dc:creator>
  <cp:lastModifiedBy>Edward Daw</cp:lastModifiedBy>
  <cp:revision>8</cp:revision>
  <dcterms:created xsi:type="dcterms:W3CDTF">2025-11-15T14:27:03Z</dcterms:created>
  <dcterms:modified xsi:type="dcterms:W3CDTF">2025-11-19T12:18:37Z</dcterms:modified>
</cp:coreProperties>
</file>