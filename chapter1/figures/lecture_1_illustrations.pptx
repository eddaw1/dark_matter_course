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0" r:id="rId3"/>
    <p:sldId id="256" r:id="rId4"/>
    <p:sldId id="257" r:id="rId5"/>
    <p:sldId id="258" r:id="rId6"/>
    <p:sldId id="259" r:id="rId7"/>
    <p:sldId id="540" r:id="rId8"/>
    <p:sldId id="539" r:id="rId9"/>
    <p:sldId id="54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AEFB2-840D-15B6-13FB-240E264D1A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94E497-6183-187D-71B2-9CEEF7DCB4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23A099-984A-094B-1243-CFDEA5BCF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FF21E-2FDF-9844-8801-6B6A901DB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451F42-B862-0DA1-4112-9847DBE1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626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7F618-96F5-7608-2749-F69C99ADE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3DFA2-8D62-0FB7-9EDA-2F5F71875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E2C07-527E-40FB-65E8-A9AB71D39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8968B-B471-3A37-5345-5383666FC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B81DF-947C-A67B-8956-6A7FE1BE3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460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BDDB7-F5CC-D34E-9945-40084064A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10C4-CCB4-9132-1337-D09D510590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AACC7-8DF0-1EDD-D8B1-9BB65706D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955ACA-E10B-D50B-7415-912C6B100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95D1F4-2AAE-1523-2D87-07A1458B5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842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09A18-2DE4-07F7-726A-7E49FB99A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E7DAE-0622-3AC7-7E65-F5F239B962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7B15AD-B737-8E80-EFD4-6928C5950F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4C71AE-D941-AB93-D4B2-A69565901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13663-29FF-0829-30F2-A5160210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8D52EF-405E-5E7F-E13A-07AF9F5F2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059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2BF60-D059-7ABE-B009-AED0E571C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1F1035-45A4-96A1-237E-312444BA0E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A8FCC1-C594-0FC7-0001-86B59C614F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0C5513-57C6-9E8B-87DD-4D7E63C9F2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C0E02C-D028-4524-3E53-1D0D2F4429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090ABD-748E-6D37-7839-EB7C0306B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0F18D1-B1AD-3E77-3E3B-76CD3AF93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ADDD49-4114-F3DB-74D7-891F0041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838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E232E-3465-75BF-F7C5-D1E86F109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5FBB08-69C9-6DF0-6F5C-AA63AEF95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3E98C8-665D-ABCB-4D67-AA84A171A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EF0A42-9AAD-291A-C715-D81DAD927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577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30E8C9-7D7E-D334-AFBA-34B580910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BAAC25-B80B-7743-218E-E59D062C8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DD24F-B67E-811E-BDCC-2C9B18C8B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222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3D71E-F910-2568-282C-E75027E7B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A0A4DB-CC88-9195-5E62-A4A03D6164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EA44C9-BA6D-5568-7D8C-7BFD8BF764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A4C8D0-C013-2157-10A7-EE3FB2BB6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D9783-D9D5-AC2C-C42F-C7D511BD1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8F1C45-E7B2-8B73-C307-64A8ED551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EBAEF-546E-C651-051D-0A4FC19C3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37F85E-254E-82C7-63FF-F969591F9B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CC5181-425C-A388-6D23-68871F2837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CCE2D1-8985-DDE4-4F1F-506ABB4E2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36E9DD-A921-1EE6-9DA3-A7CAF253D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1A3F5A-78F2-7D87-9366-5D3C05CB3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3143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F3EBB-9D0E-1A9B-0358-C3AA0F9B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EE6EBA-2ECB-5E95-BE62-9B5E9E27F1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92B2F-BB88-A62B-2734-ED04DC682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FC962-C01F-F4EA-D3D1-AC9168408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BF5AD-6B0E-69E9-5428-1EF9B0D23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518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F16DE2-A5E5-A421-B524-DDF8F1E9D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8F0E82-EB72-56EE-46D7-76EC6666C2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23F7A-E47D-DA62-A635-700E7B7FC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79F59-FE92-AFB2-9861-BDE5DB160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1A2B6-2BB4-EA03-72B1-27FD56DA8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9419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1976436" y="2557463"/>
            <a:ext cx="8239127" cy="1743075"/>
          </a:xfrm>
          <a:prstGeom prst="rect">
            <a:avLst/>
          </a:prstGeom>
        </p:spPr>
        <p:txBody>
          <a:bodyPr lIns="38100" tIns="38100" rIns="38100" bIns="38100"/>
          <a:lstStyle>
            <a:lvl1pPr algn="l" defTabSz="1219170">
              <a:lnSpc>
                <a:spcPct val="80000"/>
              </a:lnSpc>
              <a:defRPr sz="5700" spc="-114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7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014942" y="5755132"/>
            <a:ext cx="157430" cy="149556"/>
          </a:xfrm>
          <a:prstGeom prst="rect">
            <a:avLst/>
          </a:prstGeom>
        </p:spPr>
        <p:txBody>
          <a:bodyPr lIns="38100" tIns="38100" rIns="38100" bIns="38100" anchor="b"/>
          <a:lstStyle>
            <a:lvl1pPr defTabSz="292100">
              <a:defRPr sz="8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4121886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D01B61-064A-0619-A22A-FCBAC131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AE68E-0CB1-48F0-CF0B-40CD71785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13840-6718-7D0F-C833-B366570F4E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6ECCD-5D89-21C3-ED4D-63A791BE79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03E09-A31C-6967-F0AF-179134EC59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641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emf"/><Relationship Id="rId4" Type="http://schemas.openxmlformats.org/officeDocument/2006/relationships/image" Target="../media/image9.png"/><Relationship Id="rId9" Type="http://schemas.openxmlformats.org/officeDocument/2006/relationships/image" Target="../media/image14.emf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18D24-E428-9DA8-22E8-61A51C4E5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660"/>
            <a:ext cx="9144000" cy="985217"/>
          </a:xfrm>
        </p:spPr>
        <p:txBody>
          <a:bodyPr/>
          <a:lstStyle/>
          <a:p>
            <a:r>
              <a:rPr lang="en-US" dirty="0"/>
              <a:t>Dark Matter Detectors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DC8708-A454-87DA-AAE1-E76CD35923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70877"/>
            <a:ext cx="9144000" cy="903055"/>
          </a:xfrm>
        </p:spPr>
        <p:txBody>
          <a:bodyPr/>
          <a:lstStyle/>
          <a:p>
            <a:r>
              <a:rPr lang="en-US" dirty="0"/>
              <a:t>Ed Daw</a:t>
            </a:r>
          </a:p>
          <a:p>
            <a:r>
              <a:rPr lang="en-US" dirty="0"/>
              <a:t>Office hours: D28 Hicks, Wednesday 12:00, Friday 4pm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EB6DC5B-562D-D15A-D9AE-2ADAAA85E6A6}"/>
              </a:ext>
            </a:extLst>
          </p:cNvPr>
          <p:cNvSpPr txBox="1">
            <a:spLocks/>
          </p:cNvSpPr>
          <p:nvPr/>
        </p:nvSpPr>
        <p:spPr>
          <a:xfrm>
            <a:off x="1524000" y="2401420"/>
            <a:ext cx="9144000" cy="436736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plan: 8 lectures on dark matter detectors.</a:t>
            </a:r>
          </a:p>
          <a:p>
            <a:r>
              <a:rPr lang="en-US" dirty="0"/>
              <a:t>Today: Theory of WIMPs and Axions</a:t>
            </a:r>
          </a:p>
          <a:p>
            <a:r>
              <a:rPr lang="en-US" dirty="0"/>
              <a:t>Then 3.5 lectures on WIMP detectors</a:t>
            </a:r>
          </a:p>
          <a:p>
            <a:r>
              <a:rPr lang="en-US" dirty="0"/>
              <a:t>Finally 3.5 lectures on axion detectors</a:t>
            </a:r>
          </a:p>
          <a:p>
            <a:endParaRPr lang="en-US" dirty="0"/>
          </a:p>
          <a:p>
            <a:r>
              <a:rPr lang="en-US" dirty="0"/>
              <a:t>You’ve had a virtual tour of an underground dark matter lab, used for several WIMP searches. You can have a tour of my axion search experiment, which is on C floor.</a:t>
            </a:r>
          </a:p>
          <a:p>
            <a:r>
              <a:rPr lang="en-US" dirty="0"/>
              <a:t>Questions are welcome – raise your hand. Be considerate of other students by not talking loudly otherwise. There will be 1 blackboard homework, and the rest of the assessment is via the exam.</a:t>
            </a:r>
          </a:p>
        </p:txBody>
      </p:sp>
    </p:spTree>
    <p:extLst>
      <p:ext uri="{BB962C8B-B14F-4D97-AF65-F5344CB8AC3E}">
        <p14:creationId xmlns:p14="http://schemas.microsoft.com/office/powerpoint/2010/main" val="1334733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complex structure&#10;&#10;Description automatically generated with medium confidence">
            <a:extLst>
              <a:ext uri="{FF2B5EF4-FFF2-40B4-BE49-F238E27FC236}">
                <a16:creationId xmlns:a16="http://schemas.microsoft.com/office/drawing/2014/main" id="{E8E14C86-5444-CCA2-57F0-AA50C336D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088" y="932590"/>
            <a:ext cx="7463824" cy="5181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623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hart of different types of physics&#10;&#10;Description automatically generated">
            <a:extLst>
              <a:ext uri="{FF2B5EF4-FFF2-40B4-BE49-F238E27FC236}">
                <a16:creationId xmlns:a16="http://schemas.microsoft.com/office/drawing/2014/main" id="{9D70F595-8675-1604-E46A-4E82DB0C6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752" y="1209115"/>
            <a:ext cx="5368496" cy="4439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389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field&#10;&#10;Description automatically generated">
            <a:extLst>
              <a:ext uri="{FF2B5EF4-FFF2-40B4-BE49-F238E27FC236}">
                <a16:creationId xmlns:a16="http://schemas.microsoft.com/office/drawing/2014/main" id="{433CCD30-C857-D57A-808E-4CDE46981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016" y="510695"/>
            <a:ext cx="6718476" cy="5109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727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charger&#10;&#10;Description automatically generated">
            <a:extLst>
              <a:ext uri="{FF2B5EF4-FFF2-40B4-BE49-F238E27FC236}">
                <a16:creationId xmlns:a16="http://schemas.microsoft.com/office/drawing/2014/main" id="{547BB84C-43C2-5021-B0B6-7409FC18E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590" y="521728"/>
            <a:ext cx="9075009" cy="547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892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mirror&#10;&#10;Description automatically generated">
            <a:extLst>
              <a:ext uri="{FF2B5EF4-FFF2-40B4-BE49-F238E27FC236}">
                <a16:creationId xmlns:a16="http://schemas.microsoft.com/office/drawing/2014/main" id="{BAA31FF1-8670-5BC2-8BFC-FFFFC7C0C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52" y="272531"/>
            <a:ext cx="8944180" cy="6312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126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F4D7A7-3699-26A1-5DF7-0EAA8120D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59" y="-738316"/>
            <a:ext cx="11112843" cy="83346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388C81-5991-B9F9-1AF4-FCC8480748FE}"/>
              </a:ext>
            </a:extLst>
          </p:cNvPr>
          <p:cNvSpPr txBox="1"/>
          <p:nvPr/>
        </p:nvSpPr>
        <p:spPr>
          <a:xfrm>
            <a:off x="3501090" y="0"/>
            <a:ext cx="51898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Peccei Quinn Potential</a:t>
            </a:r>
          </a:p>
        </p:txBody>
      </p:sp>
    </p:spTree>
    <p:extLst>
      <p:ext uri="{BB962C8B-B14F-4D97-AF65-F5344CB8AC3E}">
        <p14:creationId xmlns:p14="http://schemas.microsoft.com/office/powerpoint/2010/main" val="1329688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01D5F9-23CB-310A-74DE-6998420BEBC7}"/>
              </a:ext>
            </a:extLst>
          </p:cNvPr>
          <p:cNvSpPr/>
          <p:nvPr/>
        </p:nvSpPr>
        <p:spPr>
          <a:xfrm>
            <a:off x="518984" y="1792554"/>
            <a:ext cx="5545069" cy="222055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7" name="Axion properties"/>
          <p:cNvSpPr txBox="1">
            <a:spLocks noGrp="1"/>
          </p:cNvSpPr>
          <p:nvPr>
            <p:ph type="title"/>
          </p:nvPr>
        </p:nvSpPr>
        <p:spPr>
          <a:xfrm>
            <a:off x="2271712" y="203200"/>
            <a:ext cx="7877176" cy="857251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dirty="0">
                <a:solidFill>
                  <a:schemeClr val="tx1"/>
                </a:solidFill>
                <a:latin typeface="Helvetica" pitchFamily="2" charset="0"/>
              </a:rPr>
              <a:t>Axion properties</a:t>
            </a:r>
          </a:p>
        </p:txBody>
      </p:sp>
      <p:pic>
        <p:nvPicPr>
          <p:cNvPr id="398" name="axion_two_photon_loop_detailed.pdf" descr="axion_two_photon_loop_detailed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036" y="4178702"/>
            <a:ext cx="4002807" cy="2152112"/>
          </a:xfrm>
          <a:prstGeom prst="rect">
            <a:avLst/>
          </a:prstGeom>
          <a:ln w="3175">
            <a:miter lim="400000"/>
          </a:ln>
        </p:spPr>
      </p:pic>
      <p:pic>
        <p:nvPicPr>
          <p:cNvPr id="399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1448" y="5207132"/>
            <a:ext cx="260351" cy="95251"/>
          </a:xfrm>
          <a:prstGeom prst="rect">
            <a:avLst/>
          </a:prstGeom>
          <a:ln w="3175">
            <a:miter lim="400000"/>
          </a:ln>
        </p:spPr>
      </p:pic>
      <p:pic>
        <p:nvPicPr>
          <p:cNvPr id="400" name="axion_two_photon_effective_gagg.pdf" descr="axion_two_photon_effective_gagg.pd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004" y="4013110"/>
            <a:ext cx="3049230" cy="2483295"/>
          </a:xfrm>
          <a:prstGeom prst="rect">
            <a:avLst/>
          </a:prstGeom>
          <a:ln w="3175">
            <a:miter lim="400000"/>
          </a:ln>
        </p:spPr>
      </p:pic>
      <p:pic>
        <p:nvPicPr>
          <p:cNvPr id="401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3582" y="4813432"/>
            <a:ext cx="2965451" cy="882651"/>
          </a:xfrm>
          <a:prstGeom prst="rect">
            <a:avLst/>
          </a:prstGeom>
          <a:ln w="3175">
            <a:miter lim="400000"/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9276B7C-E4D9-60B3-DDF2-6AB430F5E02A}"/>
              </a:ext>
            </a:extLst>
          </p:cNvPr>
          <p:cNvGrpSpPr/>
          <p:nvPr/>
        </p:nvGrpSpPr>
        <p:grpSpPr>
          <a:xfrm>
            <a:off x="518984" y="1172484"/>
            <a:ext cx="9620647" cy="377026"/>
            <a:chOff x="518984" y="1172484"/>
            <a:chExt cx="9620647" cy="377026"/>
          </a:xfrm>
        </p:grpSpPr>
        <p:sp>
          <p:nvSpPr>
            <p:cNvPr id="402" name="INTERACTIONS  [            is the energy scale at the Peccei Quinn phase transition ]"/>
            <p:cNvSpPr txBox="1"/>
            <p:nvPr/>
          </p:nvSpPr>
          <p:spPr>
            <a:xfrm>
              <a:off x="518984" y="1172484"/>
              <a:ext cx="9620647" cy="377026"/>
            </a:xfrm>
            <a:prstGeom prst="rect">
              <a:avLst/>
            </a:prstGeom>
            <a:noFill/>
            <a:ln w="3175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19050" tIns="19050" rIns="19050" bIns="19050" numCol="1" anchor="ctr">
              <a:spAutoFit/>
            </a:bodyPr>
            <a:lstStyle>
              <a:lvl1pPr>
                <a:defRPr sz="4400">
                  <a:solidFill>
                    <a:srgbClr val="000000"/>
                  </a:solidFill>
                </a:defRPr>
              </a:lvl1pPr>
            </a:lstStyle>
            <a:p>
              <a:r>
                <a:rPr sz="2200" dirty="0"/>
                <a:t>INTERACTIONS  [            is the energy scale at the Peccei Quinn phase transition ]</a:t>
              </a:r>
            </a:p>
          </p:txBody>
        </p:sp>
        <p:pic>
          <p:nvPicPr>
            <p:cNvPr id="403" name="Image" descr="Image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54439" y="1228959"/>
              <a:ext cx="476962" cy="293885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</p:grpSp>
      <p:pic>
        <p:nvPicPr>
          <p:cNvPr id="405" name="axion_fermion_coupling.pdf" descr="axion_fermion_coupling.pd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2912" y="1577239"/>
            <a:ext cx="2965451" cy="2512028"/>
          </a:xfrm>
          <a:prstGeom prst="rect">
            <a:avLst/>
          </a:prstGeom>
          <a:ln w="3175">
            <a:miter lim="400000"/>
          </a:ln>
        </p:spPr>
      </p:pic>
      <p:pic>
        <p:nvPicPr>
          <p:cNvPr id="406" name="Image" descr="Imag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0251" y="2391927"/>
            <a:ext cx="2978151" cy="882651"/>
          </a:xfrm>
          <a:prstGeom prst="rect">
            <a:avLst/>
          </a:prstGeom>
          <a:ln w="3175">
            <a:miter lim="400000"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0518DAA-7088-B8A6-E97D-DD299B190A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036" y="3034646"/>
            <a:ext cx="4714120" cy="788708"/>
          </a:xfrm>
          <a:prstGeom prst="rect">
            <a:avLst/>
          </a:prstGeom>
        </p:spPr>
      </p:pic>
      <p:sp>
        <p:nvSpPr>
          <p:cNvPr id="5" name="INTERACTIONS  [            is the energy scale at the Peccei Quinn phase transition ]">
            <a:extLst>
              <a:ext uri="{FF2B5EF4-FFF2-40B4-BE49-F238E27FC236}">
                <a16:creationId xmlns:a16="http://schemas.microsoft.com/office/drawing/2014/main" id="{A70F6799-7BAE-6F63-BE33-389D78DAF709}"/>
              </a:ext>
            </a:extLst>
          </p:cNvPr>
          <p:cNvSpPr txBox="1"/>
          <p:nvPr/>
        </p:nvSpPr>
        <p:spPr>
          <a:xfrm>
            <a:off x="653036" y="1792554"/>
            <a:ext cx="5411017" cy="1054135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19050" tIns="19050" rIns="19050" bIns="19050" numCol="1" anchor="ctr">
            <a:spAutoFit/>
          </a:bodyPr>
          <a:lstStyle>
            <a:lvl1pPr>
              <a:defRPr sz="4400">
                <a:solidFill>
                  <a:srgbClr val="000000"/>
                </a:solidFill>
              </a:defRPr>
            </a:lvl1pPr>
          </a:lstStyle>
          <a:p>
            <a:pPr algn="l"/>
            <a:r>
              <a:rPr lang="en-GB" sz="2200" dirty="0">
                <a:latin typeface="Helvetica" pitchFamily="2" charset="0"/>
              </a:rPr>
              <a:t>The axion has the same quantum numbers as the     , therefore there is a scaling rule between axion and pion properties.</a:t>
            </a:r>
            <a:endParaRPr sz="2200" dirty="0">
              <a:latin typeface="Helvetica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83EB59-3AFA-691C-A9D6-F549C0E4BB4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29150" y="2146659"/>
            <a:ext cx="299650" cy="290837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15D0A-11C3-D800-3FB8-CBFC4E3898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1767" y="262248"/>
            <a:ext cx="2648465" cy="641195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B757EE-EFCD-EB5D-4CE9-E5E8ACCFD8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6077" y="713872"/>
            <a:ext cx="10742341" cy="2497680"/>
          </a:xfrm>
        </p:spPr>
        <p:txBody>
          <a:bodyPr>
            <a:normAutofit lnSpcReduction="10000"/>
          </a:bodyPr>
          <a:lstStyle/>
          <a:p>
            <a:pPr algn="l"/>
            <a:r>
              <a:rPr lang="en-US" dirty="0"/>
              <a:t>WIMPs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Originate in high energy accelerator ‘frontier’ new physics.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Are associated with the weak interactions, so the WIMP mass is within a couple of orders of magnitude of 100 GeV/c</a:t>
            </a:r>
            <a:r>
              <a:rPr lang="en-US" baseline="30000" dirty="0"/>
              <a:t>2</a:t>
            </a:r>
            <a:r>
              <a:rPr lang="en-US" dirty="0"/>
              <a:t>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Are particle-like, if they are dark matter.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Have De Broglie wavelengths of order the diameter of a nucleus.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6F48EB1-8AD9-B14B-D6F5-D92021CCA15C}"/>
              </a:ext>
            </a:extLst>
          </p:cNvPr>
          <p:cNvSpPr txBox="1">
            <a:spLocks/>
          </p:cNvSpPr>
          <p:nvPr/>
        </p:nvSpPr>
        <p:spPr>
          <a:xfrm>
            <a:off x="866076" y="3319541"/>
            <a:ext cx="10742341" cy="249768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Axions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Originate as a by-product of the Peccei Quinn mechanism introduced to explain why strongly interacting hadrons are CP-symmetric in the low energy limit.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Are associated with the strong interactions, so the axion mass is far lower than the WIMP mass, with its mass constrained by astrophysical observations and cosmological arguments. See a later lecture for further </a:t>
            </a:r>
            <a:r>
              <a:rPr lang="en-US" dirty="0" err="1"/>
              <a:t>disussion</a:t>
            </a:r>
            <a:endParaRPr lang="en-US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Are wave-like, if they are dark matter.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Have De Broglie wavelengths of order a hundred </a:t>
            </a:r>
            <a:r>
              <a:rPr lang="en-US" dirty="0" err="1"/>
              <a:t>metres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5341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297</Words>
  <Application>Microsoft Macintosh PowerPoint</Application>
  <PresentationFormat>Widescreen</PresentationFormat>
  <Paragraphs>25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Helvetica</vt:lpstr>
      <vt:lpstr>Helvetica Neue Medium</vt:lpstr>
      <vt:lpstr>Office Theme</vt:lpstr>
      <vt:lpstr>Dark Matter Detectors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Axion properties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Edward Daw</dc:creator>
  <cp:lastModifiedBy>Edward Daw</cp:lastModifiedBy>
  <cp:revision>7</cp:revision>
  <dcterms:created xsi:type="dcterms:W3CDTF">2025-11-15T14:27:03Z</dcterms:created>
  <dcterms:modified xsi:type="dcterms:W3CDTF">2025-11-17T15:35:09Z</dcterms:modified>
</cp:coreProperties>
</file>